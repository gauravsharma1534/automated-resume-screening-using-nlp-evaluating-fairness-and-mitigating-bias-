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  <p:sldMasterId id="2147483907" r:id="rId2"/>
    <p:sldMasterId id="2147483908" r:id="rId3"/>
  </p:sldMasterIdLst>
  <p:notesMasterIdLst>
    <p:notesMasterId r:id="rId22"/>
  </p:notesMasterIdLst>
  <p:handoutMasterIdLst>
    <p:handoutMasterId r:id="rId23"/>
  </p:handoutMasterIdLst>
  <p:sldIdLst>
    <p:sldId id="323" r:id="rId4"/>
    <p:sldId id="324" r:id="rId5"/>
    <p:sldId id="325" r:id="rId6"/>
    <p:sldId id="333" r:id="rId7"/>
    <p:sldId id="326" r:id="rId8"/>
    <p:sldId id="334" r:id="rId9"/>
    <p:sldId id="327" r:id="rId10"/>
    <p:sldId id="328" r:id="rId11"/>
    <p:sldId id="335" r:id="rId12"/>
    <p:sldId id="340" r:id="rId13"/>
    <p:sldId id="336" r:id="rId14"/>
    <p:sldId id="329" r:id="rId15"/>
    <p:sldId id="337" r:id="rId16"/>
    <p:sldId id="338" r:id="rId17"/>
    <p:sldId id="330" r:id="rId18"/>
    <p:sldId id="331" r:id="rId19"/>
    <p:sldId id="332" r:id="rId20"/>
    <p:sldId id="33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94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2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1048823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4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1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104881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1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8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7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3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8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9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1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49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6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71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  <p:sp>
        <p:nvSpPr>
          <p:cNvPr id="1048707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  <p:sp>
        <p:nvSpPr>
          <p:cNvPr id="1048708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  <p:sp>
        <p:nvSpPr>
          <p:cNvPr id="1048709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1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7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3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6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64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  <p:sp>
        <p:nvSpPr>
          <p:cNvPr id="1048637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  <p:sp>
        <p:nvSpPr>
          <p:cNvPr id="1048638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  <p:sp>
        <p:nvSpPr>
          <p:cNvPr id="1048639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4880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807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48808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4878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78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48783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4881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814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048785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786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048787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048788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048789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048790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048791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48792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4879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9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9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9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4879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5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810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811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04877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1048774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48775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4877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7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7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7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5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5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5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6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04880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097155" name="그림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104880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803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48804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04876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097152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</p:spPr>
      </p:pic>
      <p:pic>
        <p:nvPicPr>
          <p:cNvPr id="2097153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</p:spPr>
      </p:pic>
      <p:pic>
        <p:nvPicPr>
          <p:cNvPr id="2097154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</p:spPr>
      </p:pic>
      <p:sp>
        <p:nvSpPr>
          <p:cNvPr id="104876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6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6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4876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4876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96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1048769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1048770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048771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8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99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00" name="Slide Number Placeholder 2"/>
          <p:cNvSpPr txBox="1"/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</a:t>
            </a:r>
            <a:endParaRPr lang="en-US" dirty="0"/>
          </a:p>
        </p:txBody>
      </p:sp>
      <p:sp>
        <p:nvSpPr>
          <p:cNvPr id="1048601" name="Right Triangle 45"/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48602" name="Right Triangle 36"/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48603" name="Rectangle 44"/>
          <p:cNvSpPr/>
          <p:nvPr/>
        </p:nvSpPr>
        <p:spPr>
          <a:xfrm>
            <a:off x="2698031" y="1476029"/>
            <a:ext cx="6829425" cy="4275221"/>
          </a:xfrm>
          <a:prstGeom prst="rect">
            <a:avLst/>
          </a:prstGeom>
          <a:gradFill flip="none" rotWithShape="1">
            <a:gsLst>
              <a:gs pos="2655">
                <a:schemeClr val="bg1">
                  <a:alpha val="0"/>
                </a:schemeClr>
              </a:gs>
              <a:gs pos="15000">
                <a:srgbClr val="FFFFFF">
                  <a:alpha val="34000"/>
                </a:srgbClr>
              </a:gs>
              <a:gs pos="51000">
                <a:schemeClr val="bg1"/>
              </a:gs>
              <a:gs pos="94000">
                <a:srgbClr val="FFFFFF">
                  <a:alpha val="34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sz="2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Submitted in the partial fulfillment for the award of </a:t>
            </a:r>
            <a:r>
              <a:rPr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degree of </a:t>
            </a:r>
            <a:endParaRPr lang="en-IN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IN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BACHELOR OF ENGINEERING </a:t>
            </a:r>
          </a:p>
          <a:p>
            <a:pPr algn="ctr">
              <a:lnSpc>
                <a:spcPct val="150000"/>
              </a:lnSpc>
            </a:pPr>
            <a:r>
              <a:rPr lang="en-IN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</a:t>
            </a:r>
          </a:p>
          <a:p>
            <a:pPr algn="ctr">
              <a:lnSpc>
                <a:spcPct val="150000"/>
              </a:lnSpc>
            </a:pPr>
            <a:r>
              <a:rPr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CSE (Hons in Big Data Analytics)</a:t>
            </a:r>
          </a:p>
          <a:p>
            <a:pPr algn="ctr">
              <a:lnSpc>
                <a:spcPct val="150000"/>
              </a:lnSpc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048604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05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1048606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607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8" name="TextBox 25"/>
          <p:cNvSpPr txBox="1">
            <a:spLocks noChangeArrowheads="1"/>
          </p:cNvSpPr>
          <p:nvPr/>
        </p:nvSpPr>
        <p:spPr bwMode="auto">
          <a:xfrm>
            <a:off x="1657503" y="316467"/>
            <a:ext cx="8477097" cy="15081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sz="2400" b="1" dirty="0"/>
              <a:t>Automated Resume Screening Using NLP: </a:t>
            </a:r>
            <a:endParaRPr lang="en-IN" sz="2400" b="1" dirty="0"/>
          </a:p>
          <a:p>
            <a:pPr algn="ctr"/>
            <a:r>
              <a:rPr sz="2400" b="1" dirty="0"/>
              <a:t>Evaluating Fairness and Mitigating Bias</a:t>
            </a:r>
            <a:endParaRPr lang="en-IN" sz="2400" b="1" dirty="0"/>
          </a:p>
          <a:p>
            <a:pPr algn="ctr"/>
            <a:endParaRPr lang="en-US" sz="4400" b="1" dirty="0">
              <a:latin typeface="Raleway ExtraBold" pitchFamily="34" charset="-52"/>
            </a:endParaRPr>
          </a:p>
        </p:txBody>
      </p:sp>
      <p:sp>
        <p:nvSpPr>
          <p:cNvPr id="1048609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  <a:endParaRPr lang="en-US"/>
          </a:p>
        </p:txBody>
      </p:sp>
      <p:sp>
        <p:nvSpPr>
          <p:cNvPr id="1048610" name="TextBox 4"/>
          <p:cNvSpPr txBox="1"/>
          <p:nvPr/>
        </p:nvSpPr>
        <p:spPr>
          <a:xfrm>
            <a:off x="1601999" y="4063935"/>
            <a:ext cx="325630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dirty="0"/>
              <a:t>Submitted by</a:t>
            </a:r>
            <a:r>
              <a:rPr dirty="0"/>
              <a:t>:</a:t>
            </a:r>
            <a:br>
              <a:rPr dirty="0"/>
            </a:br>
            <a:r>
              <a:rPr dirty="0" err="1"/>
              <a:t>Bedant</a:t>
            </a:r>
            <a:r>
              <a:rPr dirty="0"/>
              <a:t> Singhania</a:t>
            </a:r>
            <a:r>
              <a:rPr lang="en-IN" dirty="0"/>
              <a:t>:23BDA70122</a:t>
            </a:r>
            <a:br>
              <a:rPr dirty="0"/>
            </a:br>
            <a:r>
              <a:rPr dirty="0"/>
              <a:t>Javed Akhtar</a:t>
            </a:r>
            <a:r>
              <a:rPr lang="en-IN" dirty="0"/>
              <a:t> :23BDA70114</a:t>
            </a:r>
            <a:br>
              <a:rPr dirty="0"/>
            </a:br>
            <a:r>
              <a:rPr dirty="0"/>
              <a:t>Yeshika</a:t>
            </a:r>
            <a:r>
              <a:rPr lang="en-IN" dirty="0"/>
              <a:t> : 23BDA70132</a:t>
            </a:r>
            <a:br>
              <a:rPr dirty="0"/>
            </a:br>
            <a:r>
              <a:rPr dirty="0"/>
              <a:t>Manshvi Sharma</a:t>
            </a:r>
            <a:r>
              <a:rPr lang="en-IN" dirty="0"/>
              <a:t> :23BDA70088</a:t>
            </a:r>
            <a:br>
              <a:rPr dirty="0"/>
            </a:br>
            <a:r>
              <a:rPr dirty="0"/>
              <a:t>Gaurav Sharma</a:t>
            </a:r>
            <a:r>
              <a:rPr lang="en-IN" dirty="0"/>
              <a:t> :23BDA70050</a:t>
            </a:r>
            <a:endParaRPr dirty="0"/>
          </a:p>
          <a:p>
            <a:endParaRPr dirty="0"/>
          </a:p>
          <a:p>
            <a:endParaRPr dirty="0"/>
          </a:p>
          <a:p>
            <a:endParaRPr lang="en-US" sz="2000" dirty="0"/>
          </a:p>
        </p:txBody>
      </p:sp>
      <p:sp>
        <p:nvSpPr>
          <p:cNvPr id="1048611" name="TextBox 5"/>
          <p:cNvSpPr txBox="1"/>
          <p:nvPr/>
        </p:nvSpPr>
        <p:spPr>
          <a:xfrm>
            <a:off x="6441021" y="4468634"/>
            <a:ext cx="466915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Under the Supervision of</a:t>
            </a:r>
            <a:r>
              <a:rPr lang="en-IN" dirty="0"/>
              <a:t>: MS. Amanpreet Kaur</a:t>
            </a:r>
            <a:br>
              <a:rPr dirty="0"/>
            </a:br>
            <a:r>
              <a:rPr dirty="0"/>
              <a:t>Department of CSE</a:t>
            </a:r>
            <a:br>
              <a:rPr dirty="0"/>
            </a:br>
            <a:r>
              <a:rPr dirty="0"/>
              <a:t>Chandigarh University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Objectives of the work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486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Project</a:t>
            </a:r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b="1" dirty="0"/>
              <a:t>What is Automated Resume Screening</a:t>
            </a:r>
            <a:r>
              <a:rPr sz="1600" dirty="0"/>
              <a:t>?</a:t>
            </a:r>
          </a:p>
          <a:p>
            <a:r>
              <a:rPr sz="1600" dirty="0"/>
              <a:t>Companies receive thousands of applications, too many to review manually</a:t>
            </a:r>
          </a:p>
          <a:p>
            <a:r>
              <a:rPr sz="1600" dirty="0"/>
              <a:t>NLP-based tools automatically rank and shortlist resumes using AI</a:t>
            </a:r>
          </a:p>
          <a:p>
            <a:r>
              <a:rPr sz="1600" dirty="0"/>
              <a:t>Widely used in the software engineering hiring domain</a:t>
            </a:r>
          </a:p>
          <a:p>
            <a:endParaRPr sz="1600" dirty="0"/>
          </a:p>
          <a:p>
            <a:pPr marL="0" indent="0">
              <a:buNone/>
            </a:pPr>
            <a:r>
              <a:rPr sz="1800" b="1" dirty="0"/>
              <a:t>The Hidden Problem</a:t>
            </a:r>
          </a:p>
          <a:p>
            <a:r>
              <a:rPr sz="1600" dirty="0"/>
              <a:t>These systems learn from historical hiring data, which carries human biases</a:t>
            </a:r>
          </a:p>
          <a:p>
            <a:r>
              <a:rPr sz="1600" dirty="0"/>
              <a:t>Bias gets encoded silently and applied at machine speed and scale</a:t>
            </a:r>
          </a:p>
          <a:p>
            <a:r>
              <a:rPr sz="1600" dirty="0"/>
              <a:t>Affected candidates never know they were unfairly screened out</a:t>
            </a:r>
            <a:endParaRPr sz="1400" dirty="0"/>
          </a:p>
        </p:txBody>
      </p:sp>
      <p:sp>
        <p:nvSpPr>
          <p:cNvPr id="10486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</a:t>
            </a:r>
            <a:endParaRPr dirty="0"/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800" b="1" i="1" dirty="0"/>
              <a:t>Four Key Types of Bias</a:t>
            </a:r>
          </a:p>
          <a:p>
            <a:endParaRPr sz="1800" dirty="0"/>
          </a:p>
          <a:p>
            <a:r>
              <a:rPr sz="1800" dirty="0"/>
              <a:t>Gender Bias</a:t>
            </a:r>
          </a:p>
          <a:p>
            <a:pPr marL="457200" lvl="1" indent="0">
              <a:buNone/>
            </a:pPr>
            <a:r>
              <a:rPr sz="1600" dirty="0"/>
              <a:t>Gendered pronouns and role titles affect shortlisting decisions</a:t>
            </a:r>
            <a:endParaRPr lang="en-IN" sz="1600" dirty="0"/>
          </a:p>
          <a:p>
            <a:pPr marL="457200" lvl="1" indent="0">
              <a:buNone/>
            </a:pPr>
            <a:endParaRPr dirty="0"/>
          </a:p>
          <a:p>
            <a:r>
              <a:rPr sz="1800" dirty="0"/>
              <a:t>Name-Based Bias</a:t>
            </a:r>
          </a:p>
          <a:p>
            <a:pPr marL="457200" lvl="1" indent="0">
              <a:buNone/>
            </a:pPr>
            <a:r>
              <a:rPr sz="1600" dirty="0"/>
              <a:t>Culturally-associated names serve as proxies for race and ethnicity</a:t>
            </a:r>
          </a:p>
          <a:p>
            <a:endParaRPr sz="1800" dirty="0"/>
          </a:p>
          <a:p>
            <a:r>
              <a:rPr sz="1800" dirty="0"/>
              <a:t>Age Bias</a:t>
            </a:r>
          </a:p>
          <a:p>
            <a:pPr marL="457200" lvl="1" indent="0">
              <a:buNone/>
            </a:pPr>
            <a:r>
              <a:rPr sz="1600" dirty="0"/>
              <a:t>Graduation year and work tenure reveal approximate candidate age</a:t>
            </a:r>
            <a:endParaRPr lang="en-IN" sz="1600" dirty="0"/>
          </a:p>
          <a:p>
            <a:pPr lvl="1"/>
            <a:endParaRPr sz="1800" dirty="0"/>
          </a:p>
          <a:p>
            <a:r>
              <a:rPr sz="1800" dirty="0"/>
              <a:t>Race / Ethnicity Bias</a:t>
            </a:r>
          </a:p>
          <a:p>
            <a:pPr marL="457200" lvl="1" indent="0">
              <a:buNone/>
            </a:pPr>
            <a:r>
              <a:rPr sz="1600" dirty="0"/>
              <a:t>Inferred through correlated proxy features even without explicit labels</a:t>
            </a:r>
          </a:p>
        </p:txBody>
      </p:sp>
      <p:sp>
        <p:nvSpPr>
          <p:cNvPr id="10486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Formulation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 dirty="0"/>
              <a:t>The Scale Challenge</a:t>
            </a:r>
          </a:p>
          <a:p>
            <a:r>
              <a:rPr sz="1600" dirty="0"/>
              <a:t>Large tech firms receive 100,000+ software engineering applications per year</a:t>
            </a:r>
          </a:p>
          <a:p>
            <a:r>
              <a:rPr sz="1600" dirty="0"/>
              <a:t>Manual review is impossible, automated NLP screening is now essential</a:t>
            </a:r>
          </a:p>
          <a:p>
            <a:endParaRPr sz="1300" dirty="0"/>
          </a:p>
          <a:p>
            <a:pPr marL="0" indent="0">
              <a:buNone/>
            </a:pPr>
            <a:r>
              <a:rPr sz="1800" b="1" dirty="0"/>
              <a:t>Why This is Urgent</a:t>
            </a:r>
          </a:p>
          <a:p>
            <a:r>
              <a:rPr sz="1600" dirty="0"/>
              <a:t>BERT and </a:t>
            </a:r>
            <a:r>
              <a:rPr sz="1600" dirty="0" err="1"/>
              <a:t>RoBERTa</a:t>
            </a:r>
            <a:r>
              <a:rPr sz="1600" dirty="0"/>
              <a:t> inherit societal biases from web-crawled training data</a:t>
            </a:r>
          </a:p>
          <a:p>
            <a:r>
              <a:rPr sz="1600" dirty="0"/>
              <a:t>Higher-accuracy models amplify bias more than simpler TF-IDF models</a:t>
            </a:r>
          </a:p>
          <a:p>
            <a:r>
              <a:rPr sz="1600" dirty="0"/>
              <a:t>Removing explicit fields like gender and race does NOT prevent proxy discrimination</a:t>
            </a:r>
            <a:endParaRPr lang="en-IN" sz="1600" dirty="0"/>
          </a:p>
          <a:p>
            <a:endParaRPr sz="1300" dirty="0"/>
          </a:p>
          <a:p>
            <a:pPr marL="0" indent="0">
              <a:buNone/>
            </a:pPr>
            <a:r>
              <a:rPr sz="1800" b="1" dirty="0"/>
              <a:t>Regulatory Pressure</a:t>
            </a:r>
          </a:p>
          <a:p>
            <a:r>
              <a:rPr sz="1600" dirty="0"/>
              <a:t>EU AI Act, EEOC guidelines, and India DPDP Act 2023 demand fairness compliance</a:t>
            </a:r>
          </a:p>
        </p:txBody>
      </p:sp>
      <p:sp>
        <p:nvSpPr>
          <p:cNvPr id="10486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Formulation (contd.)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 dirty="0"/>
              <a:t>The Bias Gap Before Mitigation</a:t>
            </a:r>
          </a:p>
          <a:p>
            <a:r>
              <a:rPr sz="1600" dirty="0"/>
              <a:t>Fairness is measured using the Disparate Impact Ratio (DIR)</a:t>
            </a:r>
          </a:p>
          <a:p>
            <a:r>
              <a:rPr sz="1600" dirty="0"/>
              <a:t>DIR below 0.80 means legally significant discrimination per EEOC rules</a:t>
            </a:r>
          </a:p>
          <a:p>
            <a:endParaRPr sz="1300" dirty="0"/>
          </a:p>
          <a:p>
            <a:pPr marL="0" indent="0">
              <a:buNone/>
            </a:pPr>
            <a:r>
              <a:rPr sz="1800" b="1" dirty="0"/>
              <a:t>Pre-Mitigation DIR Values using BERT model</a:t>
            </a:r>
          </a:p>
          <a:p>
            <a:r>
              <a:rPr sz="1600" dirty="0"/>
              <a:t>Gender:            0.71   below threshold</a:t>
            </a:r>
          </a:p>
          <a:p>
            <a:r>
              <a:rPr sz="1600" dirty="0"/>
              <a:t>Race / Ethnicity:  0.68   worst, farthest from fair</a:t>
            </a:r>
          </a:p>
          <a:p>
            <a:r>
              <a:rPr sz="1600" dirty="0"/>
              <a:t>Age:               0.74   below threshold</a:t>
            </a:r>
          </a:p>
          <a:p>
            <a:r>
              <a:rPr sz="1600" dirty="0"/>
              <a:t>Name-Based:        0.72   below threshold</a:t>
            </a:r>
          </a:p>
          <a:p>
            <a:endParaRPr sz="1600" dirty="0"/>
          </a:p>
          <a:p>
            <a:r>
              <a:rPr sz="1600" dirty="0"/>
              <a:t>All four dimensions fail the legal fairness threshold</a:t>
            </a:r>
          </a:p>
          <a:p>
            <a:r>
              <a:rPr sz="1600" dirty="0"/>
              <a:t>Structured mitigation is essential</a:t>
            </a:r>
          </a:p>
        </p:txBody>
      </p:sp>
      <p:sp>
        <p:nvSpPr>
          <p:cNvPr id="10486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 of the Work</a:t>
            </a:r>
            <a:endParaRPr lang="en-US" dirty="0"/>
          </a:p>
        </p:txBody>
      </p:sp>
      <p:sp>
        <p:nvSpPr>
          <p:cNvPr id="104862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900" i="1" dirty="0"/>
              <a:t>1. Build a hybrid NLP </a:t>
            </a:r>
            <a:r>
              <a:rPr sz="1900" i="1" dirty="0" err="1"/>
              <a:t>pipelin</a:t>
            </a:r>
            <a:r>
              <a:rPr lang="en-IN" sz="1900" i="1" dirty="0"/>
              <a:t>e</a:t>
            </a:r>
          </a:p>
          <a:p>
            <a:r>
              <a:rPr lang="en-US" sz="1700" dirty="0"/>
              <a:t>Combine TF-IDF classifiers (LR, SVM, RF) with fine-tuned BERT and </a:t>
            </a:r>
            <a:r>
              <a:rPr lang="en-US" sz="1700" dirty="0" err="1"/>
              <a:t>RoBERTa</a:t>
            </a:r>
            <a:endParaRPr lang="en-US" sz="1200" dirty="0"/>
          </a:p>
          <a:p>
            <a:endParaRPr sz="1300" dirty="0"/>
          </a:p>
          <a:p>
            <a:pPr marL="0" indent="0">
              <a:buNone/>
            </a:pPr>
            <a:r>
              <a:rPr sz="1800" i="1" dirty="0"/>
              <a:t>2. </a:t>
            </a:r>
            <a:r>
              <a:rPr sz="1900" i="1" dirty="0"/>
              <a:t>Create a controlled synthetic dataset</a:t>
            </a:r>
            <a:endParaRPr sz="1800" i="1" dirty="0"/>
          </a:p>
          <a:p>
            <a:r>
              <a:rPr sz="1700" dirty="0"/>
              <a:t> 1,200 labeled resumes with deliberate demographic diversity</a:t>
            </a:r>
          </a:p>
          <a:p>
            <a:endParaRPr sz="1300" dirty="0"/>
          </a:p>
          <a:p>
            <a:pPr marL="0" indent="0">
              <a:buNone/>
            </a:pPr>
            <a:r>
              <a:rPr sz="1900" i="1" dirty="0"/>
              <a:t>3. Measure bias with three fairness metrics</a:t>
            </a:r>
          </a:p>
          <a:p>
            <a:r>
              <a:rPr sz="1300" dirty="0"/>
              <a:t>   </a:t>
            </a:r>
            <a:r>
              <a:rPr sz="1700" dirty="0"/>
              <a:t>Disparate Impact Ratio (DIR), Demographic Parity Difference (DPD), Equalized Odds Difference (EOD)</a:t>
            </a:r>
          </a:p>
          <a:p>
            <a:endParaRPr sz="1700" dirty="0"/>
          </a:p>
          <a:p>
            <a:pPr marL="0" indent="0">
              <a:buNone/>
            </a:pPr>
            <a:r>
              <a:rPr sz="1800" i="1" dirty="0"/>
              <a:t>4. </a:t>
            </a:r>
            <a:r>
              <a:rPr sz="1900" i="1" dirty="0"/>
              <a:t>Benchmark three debiasing strategies</a:t>
            </a:r>
            <a:endParaRPr sz="1800" i="1" dirty="0"/>
          </a:p>
          <a:p>
            <a:r>
              <a:rPr sz="1700" dirty="0"/>
              <a:t>   Sample re-weighting, Adversarial debiasing, Counterfactual Data Augmentation (CDA)</a:t>
            </a:r>
          </a:p>
          <a:p>
            <a:endParaRPr sz="1300" dirty="0"/>
          </a:p>
          <a:p>
            <a:pPr marL="0" indent="0">
              <a:buNone/>
            </a:pPr>
            <a:r>
              <a:rPr sz="1800" i="1" dirty="0"/>
              <a:t>5. </a:t>
            </a:r>
            <a:r>
              <a:rPr sz="1900" i="1" dirty="0"/>
              <a:t>Situate findings in global AI governance</a:t>
            </a:r>
            <a:endParaRPr sz="1800" i="1" dirty="0"/>
          </a:p>
          <a:p>
            <a:r>
              <a:rPr sz="1300" dirty="0"/>
              <a:t>   </a:t>
            </a:r>
            <a:r>
              <a:rPr sz="1700" dirty="0"/>
              <a:t>EU AI Act, EEOC guidelines, India DPDP Act 2023</a:t>
            </a:r>
            <a:endParaRPr sz="1300" dirty="0"/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- Dataset Construction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dirty="0"/>
              <a:t>1.</a:t>
            </a:r>
            <a:r>
              <a:rPr sz="1800" dirty="0"/>
              <a:t>Synthetic Resume Dataset: 1,200 resume</a:t>
            </a:r>
            <a:r>
              <a:rPr sz="1300" dirty="0"/>
              <a:t>s</a:t>
            </a:r>
          </a:p>
          <a:p>
            <a:r>
              <a:rPr sz="1600" dirty="0"/>
              <a:t>Generated using Python with controlled demographic variation</a:t>
            </a:r>
          </a:p>
          <a:p>
            <a:r>
              <a:rPr sz="1600" dirty="0"/>
              <a:t>Balanced across gender, age, race/ethnicity, and name dimensions</a:t>
            </a:r>
          </a:p>
          <a:p>
            <a:endParaRPr sz="1300" dirty="0"/>
          </a:p>
          <a:p>
            <a:pPr marL="0" indent="0">
              <a:buNone/>
            </a:pPr>
            <a:r>
              <a:rPr lang="en-IN" sz="1800" dirty="0"/>
              <a:t>2.</a:t>
            </a:r>
            <a:r>
              <a:rPr sz="1800" dirty="0"/>
              <a:t>Ground-Truth Labels: Weighted Composite Score</a:t>
            </a:r>
          </a:p>
          <a:p>
            <a:r>
              <a:rPr sz="1600" dirty="0"/>
              <a:t>Experience 30%   Skill Match 35%   Education 15%   Project Complexity 12%   Certifications 8%</a:t>
            </a:r>
            <a:endParaRPr lang="en-IN" sz="1600" dirty="0"/>
          </a:p>
          <a:p>
            <a:endParaRPr sz="1300" dirty="0"/>
          </a:p>
          <a:p>
            <a:pPr marL="0" indent="0">
              <a:buNone/>
            </a:pPr>
            <a:r>
              <a:rPr lang="en-IN" sz="1800" dirty="0"/>
              <a:t>3.</a:t>
            </a:r>
            <a:r>
              <a:rPr sz="1800" dirty="0"/>
              <a:t>Class Distribution</a:t>
            </a:r>
          </a:p>
          <a:p>
            <a:r>
              <a:rPr sz="1600" dirty="0"/>
              <a:t>Shortlisted: 480 resumes (40%)</a:t>
            </a:r>
          </a:p>
          <a:p>
            <a:r>
              <a:rPr sz="1600" dirty="0"/>
              <a:t>Not Shortlisted: 720 resumes (60%)</a:t>
            </a:r>
          </a:p>
          <a:p>
            <a:r>
              <a:rPr sz="1600" dirty="0"/>
              <a:t>Train / Test Split: 80% / 20% stratified</a:t>
            </a:r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- NLP Pipelines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 dirty="0"/>
              <a:t>Classical Pipeline: TF-IDF Branch</a:t>
            </a:r>
          </a:p>
          <a:p>
            <a:r>
              <a:rPr sz="1600" dirty="0"/>
              <a:t>Text preprocessing: </a:t>
            </a:r>
            <a:r>
              <a:rPr sz="1600" dirty="0" err="1"/>
              <a:t>spaCy</a:t>
            </a:r>
            <a:r>
              <a:rPr sz="1600" dirty="0"/>
              <a:t> lemmatization and </a:t>
            </a:r>
            <a:r>
              <a:rPr sz="1600" dirty="0" err="1"/>
              <a:t>stopword</a:t>
            </a:r>
            <a:r>
              <a:rPr sz="1600" dirty="0"/>
              <a:t> removal</a:t>
            </a:r>
          </a:p>
          <a:p>
            <a:r>
              <a:rPr sz="1600" dirty="0"/>
              <a:t>TF-IDF vectorization: 15,000-word vocabulary, unigrams and bigrams</a:t>
            </a:r>
          </a:p>
          <a:p>
            <a:r>
              <a:rPr sz="1600" dirty="0"/>
              <a:t>Classifiers: Logistic Regression, SVM with RBF kernel, Random Forest (300 trees</a:t>
            </a:r>
            <a:r>
              <a:rPr sz="1300" dirty="0"/>
              <a:t>)</a:t>
            </a:r>
          </a:p>
          <a:p>
            <a:endParaRPr sz="1300" dirty="0"/>
          </a:p>
          <a:p>
            <a:pPr marL="0" indent="0">
              <a:buNone/>
            </a:pPr>
            <a:r>
              <a:rPr sz="1800" b="1" dirty="0"/>
              <a:t>Transformer Pipeline: BERT / </a:t>
            </a:r>
            <a:r>
              <a:rPr sz="1800" b="1" dirty="0" err="1"/>
              <a:t>RoBERTa</a:t>
            </a:r>
            <a:r>
              <a:rPr sz="1800" b="1" dirty="0"/>
              <a:t> Branch</a:t>
            </a:r>
          </a:p>
          <a:p>
            <a:r>
              <a:rPr sz="1600" dirty="0"/>
              <a:t>Models: </a:t>
            </a:r>
            <a:r>
              <a:rPr sz="1600" dirty="0" err="1"/>
              <a:t>bert</a:t>
            </a:r>
            <a:r>
              <a:rPr sz="1600" dirty="0"/>
              <a:t>-base-uncased and </a:t>
            </a:r>
            <a:r>
              <a:rPr sz="1600" dirty="0" err="1"/>
              <a:t>roberta</a:t>
            </a:r>
            <a:r>
              <a:rPr sz="1600" dirty="0"/>
              <a:t>-base from Hugging Face</a:t>
            </a:r>
          </a:p>
          <a:p>
            <a:r>
              <a:rPr sz="1600" dirty="0"/>
              <a:t>Inputs tokenized to 512 tokens</a:t>
            </a:r>
          </a:p>
          <a:p>
            <a:r>
              <a:rPr sz="1600" dirty="0"/>
              <a:t>[CLS] representation feeds into a binary output layer</a:t>
            </a:r>
          </a:p>
          <a:p>
            <a:r>
              <a:rPr sz="1600" dirty="0" err="1"/>
              <a:t>AdamW</a:t>
            </a:r>
            <a:r>
              <a:rPr sz="1600" dirty="0"/>
              <a:t> optimizer (</a:t>
            </a:r>
            <a:r>
              <a:rPr sz="1600" dirty="0" err="1"/>
              <a:t>lr</a:t>
            </a:r>
            <a:r>
              <a:rPr sz="1600" dirty="0"/>
              <a:t> 2e-5), 3 epochs, batch size 16</a:t>
            </a:r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961A-ADF4-EB9A-7311-F78583CF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>
            <a:extLst>
              <a:ext uri="{FF2B5EF4-FFF2-40B4-BE49-F238E27FC236}">
                <a16:creationId xmlns:a16="http://schemas.microsoft.com/office/drawing/2014/main" id="{10F19BF7-3722-08C3-A92F-3C47E520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IN" dirty="0"/>
              <a:t>Dataset Statistics</a:t>
            </a:r>
            <a:endParaRPr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91C68BD-3B5A-907B-491D-4F617AA2EF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421175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4910">
                  <a:extLst>
                    <a:ext uri="{9D8B030D-6E8A-4147-A177-3AD203B41FA5}">
                      <a16:colId xmlns:a16="http://schemas.microsoft.com/office/drawing/2014/main" val="1207979999"/>
                    </a:ext>
                  </a:extLst>
                </a:gridCol>
                <a:gridCol w="1642188">
                  <a:extLst>
                    <a:ext uri="{9D8B030D-6E8A-4147-A177-3AD203B41FA5}">
                      <a16:colId xmlns:a16="http://schemas.microsoft.com/office/drawing/2014/main" val="1514710105"/>
                    </a:ext>
                  </a:extLst>
                </a:gridCol>
                <a:gridCol w="2088499">
                  <a:extLst>
                    <a:ext uri="{9D8B030D-6E8A-4147-A177-3AD203B41FA5}">
                      <a16:colId xmlns:a16="http://schemas.microsoft.com/office/drawing/2014/main" val="3623152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Percentage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784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Total Synthetic Resumes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288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Shortlisted (Composite Score &gt;= 40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percentile)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98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Gender Diversity  (Female/Non Binary)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480/120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40% / 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874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Age Distribution (31-55 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15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Name Origin (South / East Asian)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2600"/>
                  </a:ext>
                </a:extLst>
              </a:tr>
            </a:tbl>
          </a:graphicData>
        </a:graphic>
      </p:graphicFrame>
      <p:sp>
        <p:nvSpPr>
          <p:cNvPr id="1048626" name="Slide Number Placeholder 3">
            <a:extLst>
              <a:ext uri="{FF2B5EF4-FFF2-40B4-BE49-F238E27FC236}">
                <a16:creationId xmlns:a16="http://schemas.microsoft.com/office/drawing/2014/main" id="{D92C136E-9080-390A-2265-7DE6669D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30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- Bias Measurement and Mitigation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800" dirty="0"/>
              <a:t>Bias Probing: Counterfactual Resume Pairs</a:t>
            </a:r>
          </a:p>
          <a:p>
            <a:r>
              <a:rPr sz="1600" dirty="0"/>
              <a:t>Pairs created by swapping protected-attribute signals (pronouns, names, dates)</a:t>
            </a:r>
          </a:p>
          <a:p>
            <a:r>
              <a:rPr sz="1600" dirty="0"/>
              <a:t>Job-relevant content kept identical across pairs</a:t>
            </a:r>
          </a:p>
          <a:p>
            <a:r>
              <a:rPr sz="1600" dirty="0"/>
              <a:t>DIR computed from the change in shortlisting probability</a:t>
            </a:r>
          </a:p>
          <a:p>
            <a:endParaRPr sz="1300" dirty="0"/>
          </a:p>
          <a:p>
            <a:pPr marL="0" indent="0">
              <a:buNone/>
            </a:pPr>
            <a:r>
              <a:rPr sz="1800" dirty="0"/>
              <a:t>Sample Re-weighting</a:t>
            </a:r>
          </a:p>
          <a:p>
            <a:r>
              <a:rPr sz="1600" dirty="0"/>
              <a:t>Increase training weight for under-represented demographic groups</a:t>
            </a:r>
          </a:p>
          <a:p>
            <a:pPr marL="0" indent="0">
              <a:buNone/>
            </a:pPr>
            <a:endParaRPr sz="1300" dirty="0"/>
          </a:p>
          <a:p>
            <a:pPr marL="0" indent="0">
              <a:buNone/>
            </a:pPr>
            <a:r>
              <a:rPr sz="1800" dirty="0"/>
              <a:t>Adversarial Debiasing</a:t>
            </a:r>
          </a:p>
          <a:p>
            <a:r>
              <a:rPr sz="1600" dirty="0"/>
              <a:t>Classifier predicts fit while an adversary simultaneously tries to predict demographics</a:t>
            </a:r>
          </a:p>
          <a:p>
            <a:endParaRPr sz="1300" dirty="0"/>
          </a:p>
          <a:p>
            <a:pPr marL="0" indent="0">
              <a:buNone/>
            </a:pPr>
            <a:r>
              <a:rPr sz="1800" dirty="0"/>
              <a:t>Counterfactual Data Augmentation (CDA)</a:t>
            </a:r>
          </a:p>
          <a:p>
            <a:r>
              <a:rPr sz="1600" dirty="0"/>
              <a:t>Swapped resume pairs added to training data to reduce demographic dependence</a:t>
            </a:r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- Model Performance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800" dirty="0"/>
              <a:t>Test Set: 240 resumes</a:t>
            </a:r>
          </a:p>
          <a:p>
            <a:r>
              <a:rPr sz="1600" dirty="0"/>
              <a:t>Classical Models using TF-IDF</a:t>
            </a:r>
          </a:p>
          <a:p>
            <a:r>
              <a:rPr sz="1600" dirty="0"/>
              <a:t>Logistic Regression:  Accuracy 82.3%   F1 0.81</a:t>
            </a:r>
          </a:p>
          <a:p>
            <a:r>
              <a:rPr sz="1600" dirty="0"/>
              <a:t>Random Forest:        Accuracy 84.1%   F1 0.83</a:t>
            </a:r>
          </a:p>
          <a:p>
            <a:r>
              <a:rPr sz="1600" dirty="0"/>
              <a:t>SVM (RBF):            Accuracy 83.7%   F1 0.83</a:t>
            </a:r>
          </a:p>
          <a:p>
            <a:pPr marL="0" indent="0">
              <a:buNone/>
            </a:pPr>
            <a:endParaRPr sz="1300" dirty="0"/>
          </a:p>
          <a:p>
            <a:pPr marL="0" indent="0">
              <a:buNone/>
            </a:pPr>
            <a:r>
              <a:rPr sz="1800" dirty="0"/>
              <a:t>Transformer Models</a:t>
            </a:r>
          </a:p>
          <a:p>
            <a:r>
              <a:rPr sz="1600" dirty="0"/>
              <a:t>BERT fine-tuned:      Accuracy 91.7%   F1 0.92</a:t>
            </a:r>
          </a:p>
          <a:p>
            <a:r>
              <a:rPr sz="1600" dirty="0" err="1"/>
              <a:t>RoBERTa</a:t>
            </a:r>
            <a:r>
              <a:rPr sz="1600" dirty="0"/>
              <a:t> fine-tuned:   Accuracy 93.2%   F1 0.93   Best overall</a:t>
            </a:r>
          </a:p>
          <a:p>
            <a:endParaRPr sz="1300" dirty="0"/>
          </a:p>
          <a:p>
            <a:pPr marL="0" indent="0">
              <a:buNone/>
            </a:pPr>
            <a:r>
              <a:rPr sz="1800" dirty="0"/>
              <a:t>Key Insight</a:t>
            </a:r>
          </a:p>
          <a:p>
            <a:r>
              <a:rPr sz="1600" dirty="0"/>
              <a:t>Transformers outperform TF-IDF by 9-10% in accuracy</a:t>
            </a:r>
          </a:p>
          <a:p>
            <a:r>
              <a:rPr sz="1600" dirty="0"/>
              <a:t>But they also encode and amplify societal biases more strongly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- Pre-Mitigation Bias (BERT)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 dirty="0"/>
              <a:t>Fairness Metrics Before Debiasing: BERT model</a:t>
            </a:r>
          </a:p>
          <a:p>
            <a:r>
              <a:rPr sz="1600" dirty="0"/>
              <a:t>Bias Type          DIR    DPD    EOD</a:t>
            </a:r>
          </a:p>
          <a:p>
            <a:r>
              <a:rPr sz="1600" dirty="0"/>
              <a:t>Gender             0.71   0.18   0.21   Below EEOC threshold</a:t>
            </a:r>
          </a:p>
          <a:p>
            <a:r>
              <a:rPr sz="1600" dirty="0"/>
              <a:t>Race / Ethnicity   0.68   0.22   0.25   Worst, farthest from fair</a:t>
            </a:r>
          </a:p>
          <a:p>
            <a:r>
              <a:rPr sz="1600" dirty="0"/>
              <a:t>Age                0.74   0.15   0.18   Below EEOC threshold</a:t>
            </a:r>
          </a:p>
          <a:p>
            <a:r>
              <a:rPr sz="1600" dirty="0"/>
              <a:t>Name-Based         0.72   0.17   0.20   Below EEOC threshold</a:t>
            </a:r>
          </a:p>
          <a:p>
            <a:endParaRPr sz="1300" dirty="0"/>
          </a:p>
          <a:p>
            <a:pPr marL="0" indent="0">
              <a:buNone/>
            </a:pPr>
            <a:r>
              <a:rPr sz="1800" b="1" dirty="0"/>
              <a:t>EEOC Requirement: DIR must be 0.80 or higher (four-fifths rule)</a:t>
            </a:r>
          </a:p>
          <a:p>
            <a:r>
              <a:rPr sz="1600" dirty="0"/>
              <a:t>All four bias dimensions fail the legal fairness threshold</a:t>
            </a:r>
          </a:p>
          <a:p>
            <a:r>
              <a:rPr sz="1600" dirty="0"/>
              <a:t>Removing demographic fields from resumes is not enough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- Post-Mitigation DIR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dirty="0"/>
              <a:t>DIR Values Before and After Mitigation</a:t>
            </a:r>
          </a:p>
          <a:p>
            <a:r>
              <a:rPr sz="1600" dirty="0"/>
              <a:t>Bias Type          Strategy                    Before   After</a:t>
            </a:r>
          </a:p>
          <a:p>
            <a:r>
              <a:rPr sz="1600" dirty="0"/>
              <a:t>Gender             Adversarial Debiasing        0.71     0.89   Passes</a:t>
            </a:r>
          </a:p>
          <a:p>
            <a:r>
              <a:rPr sz="1600" dirty="0"/>
              <a:t>Race / Ethnicity   Reweighting + CDA            0.68     0.87   Passes</a:t>
            </a:r>
          </a:p>
          <a:p>
            <a:r>
              <a:rPr sz="1600" dirty="0"/>
              <a:t>Age                CDA                          0.74     0.91   Passes</a:t>
            </a:r>
          </a:p>
          <a:p>
            <a:r>
              <a:rPr sz="1600" dirty="0"/>
              <a:t>Name-Based         Adversarial Debiasing        0.72     0.88   Passes</a:t>
            </a:r>
          </a:p>
          <a:p>
            <a:endParaRPr sz="1300" dirty="0"/>
          </a:p>
          <a:p>
            <a:r>
              <a:rPr sz="1600" dirty="0"/>
              <a:t>All post-mitigation DIR values exceed the EEOC threshold of 0.80</a:t>
            </a:r>
          </a:p>
          <a:p>
            <a:pPr marL="0" indent="0">
              <a:buNone/>
            </a:pPr>
            <a:endParaRPr sz="1300" dirty="0"/>
          </a:p>
          <a:p>
            <a:pPr marL="0" indent="0">
              <a:buNone/>
            </a:pPr>
            <a:r>
              <a:rPr sz="1800" dirty="0"/>
              <a:t>Key Finding</a:t>
            </a:r>
          </a:p>
          <a:p>
            <a:r>
              <a:rPr sz="1600" dirty="0"/>
              <a:t>Different bias types require different mitigation strategies</a:t>
            </a:r>
          </a:p>
          <a:p>
            <a:r>
              <a:rPr sz="1600" dirty="0"/>
              <a:t>A single technique does not fix all dimensions equally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1900" b="1" dirty="0"/>
              <a:t>What We Built</a:t>
            </a:r>
          </a:p>
          <a:p>
            <a:r>
              <a:rPr sz="1700" dirty="0"/>
              <a:t>A dual-track NLP pipeline (TF-IDF + BERT/</a:t>
            </a:r>
            <a:r>
              <a:rPr sz="1700" dirty="0" err="1"/>
              <a:t>RoBERTa</a:t>
            </a:r>
            <a:r>
              <a:rPr sz="1700" dirty="0"/>
              <a:t>) for resume screening</a:t>
            </a:r>
          </a:p>
          <a:p>
            <a:r>
              <a:rPr sz="1700" dirty="0"/>
              <a:t>Systematic measurement and mitigation of four bias dimensions</a:t>
            </a:r>
          </a:p>
          <a:p>
            <a:endParaRPr sz="1300" dirty="0"/>
          </a:p>
          <a:p>
            <a:pPr marL="0" indent="0">
              <a:buNone/>
            </a:pPr>
            <a:r>
              <a:rPr sz="1900" b="1" dirty="0"/>
              <a:t>Key Findings</a:t>
            </a:r>
          </a:p>
          <a:p>
            <a:r>
              <a:rPr sz="1700" dirty="0" err="1"/>
              <a:t>RoBERTa</a:t>
            </a:r>
            <a:r>
              <a:rPr sz="1700" dirty="0"/>
              <a:t> achieved the best accuracy (93.2%) but exhibited the strongest bias</a:t>
            </a:r>
          </a:p>
          <a:p>
            <a:r>
              <a:rPr sz="1700" dirty="0"/>
              <a:t>All four bias types had pre-mitigation DIR below the EEOC threshold of 0.80</a:t>
            </a:r>
          </a:p>
          <a:p>
            <a:r>
              <a:rPr sz="1700" dirty="0"/>
              <a:t>Three debiasing strategies raised DIR above 0.87 across all dimensions</a:t>
            </a:r>
          </a:p>
          <a:p>
            <a:r>
              <a:rPr sz="1700" dirty="0"/>
              <a:t>Adversarial debiasing worked best for gender and name bias</a:t>
            </a:r>
          </a:p>
          <a:p>
            <a:r>
              <a:rPr sz="1700" dirty="0"/>
              <a:t>CDA excelled at age bias; combined reweighting + CDA won on race/ethnicity</a:t>
            </a:r>
          </a:p>
          <a:p>
            <a:endParaRPr sz="1300" dirty="0"/>
          </a:p>
          <a:p>
            <a:pPr marL="0" indent="0">
              <a:buNone/>
            </a:pPr>
            <a:r>
              <a:rPr sz="1900" b="1" dirty="0"/>
              <a:t>Critical Pitfall</a:t>
            </a:r>
          </a:p>
          <a:p>
            <a:r>
              <a:rPr sz="1700" dirty="0"/>
              <a:t>Accuracy and fairness do not improve together</a:t>
            </a:r>
          </a:p>
          <a:p>
            <a:r>
              <a:rPr sz="1700" dirty="0"/>
              <a:t>More powerful models amplify societal biases more deeply</a:t>
            </a:r>
          </a:p>
          <a:p>
            <a:r>
              <a:rPr sz="1700" dirty="0"/>
              <a:t>Mitigation must be tailored per bias type</a:t>
            </a:r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14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900" dirty="0"/>
              <a:t>1. Intersectional Bias Analysis</a:t>
            </a:r>
          </a:p>
          <a:p>
            <a:r>
              <a:rPr sz="1700" dirty="0"/>
              <a:t>   Study compounded disadvantages when multiple attributes interact (e.g. gender + race)</a:t>
            </a:r>
          </a:p>
          <a:p>
            <a:endParaRPr sz="1300" dirty="0"/>
          </a:p>
          <a:p>
            <a:pPr marL="0" indent="0">
              <a:buNone/>
            </a:pPr>
            <a:r>
              <a:rPr sz="1900" dirty="0"/>
              <a:t>2. Real-World Validation</a:t>
            </a:r>
          </a:p>
          <a:p>
            <a:r>
              <a:rPr sz="1700" dirty="0"/>
              <a:t>   Test the pipeline on real resumes with measurable hiring outcomes</a:t>
            </a:r>
          </a:p>
          <a:p>
            <a:endParaRPr sz="1300" dirty="0"/>
          </a:p>
          <a:p>
            <a:pPr marL="0" indent="0">
              <a:buNone/>
            </a:pPr>
            <a:r>
              <a:rPr sz="1900" dirty="0"/>
              <a:t>3. Explainability Tools</a:t>
            </a:r>
          </a:p>
          <a:p>
            <a:r>
              <a:rPr sz="1700" dirty="0"/>
              <a:t>   Plain-language explanations of shortlisting decisions for HR practitioners</a:t>
            </a:r>
          </a:p>
          <a:p>
            <a:endParaRPr sz="1300" dirty="0"/>
          </a:p>
          <a:p>
            <a:pPr marL="0" indent="0">
              <a:buNone/>
            </a:pPr>
            <a:r>
              <a:rPr sz="1900" dirty="0"/>
              <a:t>4. Longitudinal Fairness Monitoring</a:t>
            </a:r>
          </a:p>
          <a:p>
            <a:r>
              <a:rPr sz="1700" dirty="0"/>
              <a:t>   Feedback pipelines to detect model drift and guide iterative improvement</a:t>
            </a:r>
          </a:p>
          <a:p>
            <a:endParaRPr sz="1300" dirty="0"/>
          </a:p>
          <a:p>
            <a:pPr marL="0" indent="0">
              <a:buNone/>
            </a:pPr>
            <a:r>
              <a:rPr sz="1900" dirty="0"/>
              <a:t>5. Deployable Fairness Toolkits</a:t>
            </a:r>
          </a:p>
          <a:p>
            <a:r>
              <a:rPr sz="1700" dirty="0"/>
              <a:t>   Turn-key mitigation tools for organizations of any scale</a:t>
            </a:r>
          </a:p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>
                <a:latin typeface="Times New Roman"/>
              </a:rPr>
              <a:t>[1]  J. Dastin, Amazon scraps secret AI recruiting tool that showed bias against women, Reuters, Oct. 2018.</a:t>
            </a:r>
          </a:p>
          <a:p>
            <a:r>
              <a:rPr sz="1400" dirty="0">
                <a:latin typeface="Times New Roman"/>
              </a:rPr>
              <a:t>[2]  M. Raghavan et al., Mitigating bias in algorithmic hiring, ACM </a:t>
            </a:r>
            <a:r>
              <a:rPr sz="1400" dirty="0" err="1">
                <a:latin typeface="Times New Roman"/>
              </a:rPr>
              <a:t>FAccT</a:t>
            </a:r>
            <a:r>
              <a:rPr sz="1400" dirty="0">
                <a:latin typeface="Times New Roman"/>
              </a:rPr>
              <a:t>, 2020, pp. 469-481.</a:t>
            </a:r>
          </a:p>
          <a:p>
            <a:r>
              <a:rPr sz="1400" dirty="0">
                <a:latin typeface="Times New Roman"/>
              </a:rPr>
              <a:t>[3]  S. </a:t>
            </a:r>
            <a:r>
              <a:rPr sz="1400" dirty="0" err="1">
                <a:latin typeface="Times New Roman"/>
              </a:rPr>
              <a:t>Maheshwary</a:t>
            </a:r>
            <a:r>
              <a:rPr sz="1400" dirty="0">
                <a:latin typeface="Times New Roman"/>
              </a:rPr>
              <a:t> and S. Misra, Matching resumes to jobs via deep learning, WWW, 2018.</a:t>
            </a:r>
          </a:p>
          <a:p>
            <a:r>
              <a:rPr sz="1400" dirty="0">
                <a:latin typeface="Times New Roman"/>
              </a:rPr>
              <a:t>[4]  T. Bolukbasi et al., Man is to computer programmer as woman is to homemaker? Debiasing word embeddings, </a:t>
            </a:r>
            <a:r>
              <a:rPr sz="1400" dirty="0" err="1">
                <a:latin typeface="Times New Roman"/>
              </a:rPr>
              <a:t>NeurIPS</a:t>
            </a:r>
            <a:r>
              <a:rPr sz="1400" dirty="0">
                <a:latin typeface="Times New Roman"/>
              </a:rPr>
              <a:t>, 2016.</a:t>
            </a:r>
          </a:p>
          <a:p>
            <a:r>
              <a:rPr sz="1400" dirty="0">
                <a:latin typeface="Times New Roman"/>
              </a:rPr>
              <a:t>[5]  A. Caliskan et al., Semantics derived from language corpora contain human-like biases, Science, vol. 356, 2017.</a:t>
            </a:r>
          </a:p>
          <a:p>
            <a:r>
              <a:rPr sz="1400" dirty="0">
                <a:latin typeface="Times New Roman"/>
              </a:rPr>
              <a:t>[6]  C. Dwork et al., Fairness through awareness, ITCS, 2012.</a:t>
            </a:r>
          </a:p>
          <a:p>
            <a:r>
              <a:rPr sz="1400" dirty="0">
                <a:latin typeface="Times New Roman"/>
              </a:rPr>
              <a:t>[7]  M. Hardt et al., Equality of opportunity in supervised learning, </a:t>
            </a:r>
            <a:r>
              <a:rPr sz="1400" dirty="0" err="1">
                <a:latin typeface="Times New Roman"/>
              </a:rPr>
              <a:t>NeurIPS</a:t>
            </a:r>
            <a:r>
              <a:rPr sz="1400" dirty="0">
                <a:latin typeface="Times New Roman"/>
              </a:rPr>
              <a:t>, 2016.</a:t>
            </a:r>
          </a:p>
        </p:txBody>
      </p:sp>
      <p:sp>
        <p:nvSpPr>
          <p:cNvPr id="104858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16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 (contd.)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>
                <a:latin typeface="Times New Roman"/>
              </a:rPr>
              <a:t>[8]   A. </a:t>
            </a:r>
            <a:r>
              <a:rPr sz="1400" dirty="0" err="1">
                <a:latin typeface="Times New Roman"/>
              </a:rPr>
              <a:t>Chouldechova</a:t>
            </a:r>
            <a:r>
              <a:rPr sz="1400" dirty="0">
                <a:latin typeface="Times New Roman"/>
              </a:rPr>
              <a:t>, Fair prediction with disparate impact, Big Data, vol. 5, no. 2, 2017.</a:t>
            </a:r>
          </a:p>
          <a:p>
            <a:r>
              <a:rPr sz="1400" dirty="0">
                <a:latin typeface="Times New Roman"/>
              </a:rPr>
              <a:t>[9]   M. Feldman et al., Certifying and removing disparate impact, KDD, 2015.</a:t>
            </a:r>
          </a:p>
          <a:p>
            <a:r>
              <a:rPr sz="1400" dirty="0">
                <a:latin typeface="Times New Roman"/>
              </a:rPr>
              <a:t>[10]  F. Kamiran and T. </a:t>
            </a:r>
            <a:r>
              <a:rPr sz="1400" dirty="0" err="1">
                <a:latin typeface="Times New Roman"/>
              </a:rPr>
              <a:t>Calders</a:t>
            </a:r>
            <a:r>
              <a:rPr sz="1400" dirty="0">
                <a:latin typeface="Times New Roman"/>
              </a:rPr>
              <a:t>, Data preprocessing for classification without discrimination, </a:t>
            </a:r>
            <a:r>
              <a:rPr sz="1400" dirty="0" err="1">
                <a:latin typeface="Times New Roman"/>
              </a:rPr>
              <a:t>Knowl</a:t>
            </a:r>
            <a:r>
              <a:rPr sz="1400" dirty="0">
                <a:latin typeface="Times New Roman"/>
              </a:rPr>
              <a:t>. Inf. Syst., 2012.</a:t>
            </a:r>
          </a:p>
          <a:p>
            <a:r>
              <a:rPr sz="1400" dirty="0">
                <a:latin typeface="Times New Roman"/>
              </a:rPr>
              <a:t>[11]  B. H. Zhang et al., Mitigating unwanted biases with adversarial learning, AAAI/ACM AIES, 2018.</a:t>
            </a:r>
          </a:p>
          <a:p>
            <a:r>
              <a:rPr sz="1400" dirty="0">
                <a:latin typeface="Times New Roman"/>
              </a:rPr>
              <a:t>[12]  J. Devlin et al., BERT: Pre-training of deep bidirectional transformers, NAACL-HLT, 2019.</a:t>
            </a:r>
          </a:p>
          <a:p>
            <a:r>
              <a:rPr sz="1400" dirty="0">
                <a:latin typeface="Times New Roman"/>
              </a:rPr>
              <a:t>[13]  Y. Liu et al., </a:t>
            </a:r>
            <a:r>
              <a:rPr sz="1400" dirty="0" err="1">
                <a:latin typeface="Times New Roman"/>
              </a:rPr>
              <a:t>RoBERTa</a:t>
            </a:r>
            <a:r>
              <a:rPr sz="1400" dirty="0">
                <a:latin typeface="Times New Roman"/>
              </a:rPr>
              <a:t>: A robustly optimized BERT pretraining approach, arXiv:1907.11692, 2019.</a:t>
            </a:r>
          </a:p>
          <a:p>
            <a:r>
              <a:rPr sz="1400" dirty="0">
                <a:latin typeface="Times New Roman"/>
              </a:rPr>
              <a:t>[14]  European Commission, Proposal for a Regulation on AI (EU AI Act), COM/2021/206 final, Apr. 2021.</a:t>
            </a:r>
          </a:p>
        </p:txBody>
      </p:sp>
      <p:sp>
        <p:nvSpPr>
          <p:cNvPr id="104858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17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/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1574</Words>
  <Application>Microsoft Office PowerPoint</Application>
  <PresentationFormat>Widescreen</PresentationFormat>
  <Paragraphs>245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Bias</vt:lpstr>
      <vt:lpstr>Problem Formulation</vt:lpstr>
      <vt:lpstr>Problem Formulation (contd.)</vt:lpstr>
      <vt:lpstr>Objectives of the Work</vt:lpstr>
      <vt:lpstr>Methodology - Dataset Construction</vt:lpstr>
      <vt:lpstr>Methodology - NLP Pipelines</vt:lpstr>
      <vt:lpstr>Methodology – Dataset Statistics</vt:lpstr>
      <vt:lpstr>Methodology - Bias Measurement and Mitigation</vt:lpstr>
      <vt:lpstr>Results - Model Performance</vt:lpstr>
      <vt:lpstr>Results - Pre-Mitigation Bias (BERT)</vt:lpstr>
      <vt:lpstr>Results - Post-Mitigation DIR</vt:lpstr>
      <vt:lpstr>Conclusion</vt:lpstr>
      <vt:lpstr>Future Scope</vt:lpstr>
      <vt:lpstr>References</vt:lpstr>
      <vt:lpstr>References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monu sharma</cp:lastModifiedBy>
  <cp:revision>3</cp:revision>
  <dcterms:created xsi:type="dcterms:W3CDTF">2019-01-08T23:33:58Z</dcterms:created>
  <dcterms:modified xsi:type="dcterms:W3CDTF">2026-04-29T17:06:31Z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79232a066a2a4340ac4d8bd47319f562</vt:lpwstr>
  </property>
</Properties>
</file>