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3" r:id="rId8"/>
    <p:sldId id="262" r:id="rId9"/>
  </p:sldIdLst>
  <p:sldSz cx="9144000" cy="5149850"/>
  <p:notesSz cx="9144000" cy="5149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168" y="5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0480" y="21335"/>
            <a:ext cx="652272" cy="1048512"/>
          </a:xfrm>
          <a:prstGeom prst="rect">
            <a:avLst/>
          </a:prstGeom>
        </p:spPr>
      </p:pic>
      <p:pic>
        <p:nvPicPr>
          <p:cNvPr id="17" name="bg object 17"/>
          <p:cNvPicPr/>
          <p:nvPr/>
        </p:nvPicPr>
        <p:blipFill>
          <a:blip r:embed="rId3" cstate="print"/>
          <a:stretch>
            <a:fillRect/>
          </a:stretch>
        </p:blipFill>
        <p:spPr>
          <a:xfrm>
            <a:off x="121920" y="1274063"/>
            <a:ext cx="2673096" cy="2670048"/>
          </a:xfrm>
          <a:prstGeom prst="rect">
            <a:avLst/>
          </a:prstGeom>
        </p:spPr>
      </p:pic>
      <p:sp>
        <p:nvSpPr>
          <p:cNvPr id="18" name="bg object 18"/>
          <p:cNvSpPr/>
          <p:nvPr/>
        </p:nvSpPr>
        <p:spPr>
          <a:xfrm>
            <a:off x="5285232" y="0"/>
            <a:ext cx="3858895" cy="5145405"/>
          </a:xfrm>
          <a:custGeom>
            <a:avLst/>
            <a:gdLst/>
            <a:ahLst/>
            <a:cxnLst/>
            <a:rect l="l" t="t" r="r" b="b"/>
            <a:pathLst>
              <a:path w="3858895" h="5145405">
                <a:moveTo>
                  <a:pt x="3858387" y="0"/>
                </a:moveTo>
                <a:lnTo>
                  <a:pt x="3815461" y="0"/>
                </a:lnTo>
                <a:lnTo>
                  <a:pt x="0" y="4342371"/>
                </a:lnTo>
                <a:lnTo>
                  <a:pt x="2511297" y="4342384"/>
                </a:lnTo>
                <a:lnTo>
                  <a:pt x="2511297" y="5145023"/>
                </a:lnTo>
                <a:lnTo>
                  <a:pt x="2524633" y="5145023"/>
                </a:lnTo>
                <a:lnTo>
                  <a:pt x="3419728" y="4342384"/>
                </a:lnTo>
                <a:lnTo>
                  <a:pt x="3858387" y="4342384"/>
                </a:lnTo>
                <a:lnTo>
                  <a:pt x="3858387" y="0"/>
                </a:lnTo>
                <a:close/>
              </a:path>
            </a:pathLst>
          </a:custGeom>
          <a:solidFill>
            <a:srgbClr val="F0F0F0">
              <a:alpha val="16076"/>
            </a:srgbClr>
          </a:solidFill>
        </p:spPr>
        <p:txBody>
          <a:bodyPr wrap="square" lIns="0" tIns="0" rIns="0" bIns="0" rtlCol="0"/>
          <a:lstStyle/>
          <a:p>
            <a:endParaRPr/>
          </a:p>
        </p:txBody>
      </p:sp>
      <p:pic>
        <p:nvPicPr>
          <p:cNvPr id="19" name="bg object 19"/>
          <p:cNvPicPr/>
          <p:nvPr/>
        </p:nvPicPr>
        <p:blipFill>
          <a:blip r:embed="rId4" cstate="print"/>
          <a:stretch>
            <a:fillRect/>
          </a:stretch>
        </p:blipFill>
        <p:spPr>
          <a:xfrm>
            <a:off x="1594103" y="1517903"/>
            <a:ext cx="5120640" cy="1185672"/>
          </a:xfrm>
          <a:prstGeom prst="rect">
            <a:avLst/>
          </a:prstGeom>
        </p:spPr>
      </p:pic>
      <p:sp>
        <p:nvSpPr>
          <p:cNvPr id="20" name="bg object 20"/>
          <p:cNvSpPr/>
          <p:nvPr/>
        </p:nvSpPr>
        <p:spPr>
          <a:xfrm>
            <a:off x="7360919" y="3928871"/>
            <a:ext cx="1774189" cy="1200785"/>
          </a:xfrm>
          <a:custGeom>
            <a:avLst/>
            <a:gdLst/>
            <a:ahLst/>
            <a:cxnLst/>
            <a:rect l="l" t="t" r="r" b="b"/>
            <a:pathLst>
              <a:path w="1774190" h="1200785">
                <a:moveTo>
                  <a:pt x="1773808" y="0"/>
                </a:moveTo>
                <a:lnTo>
                  <a:pt x="0" y="1200424"/>
                </a:lnTo>
                <a:lnTo>
                  <a:pt x="1773808" y="1200424"/>
                </a:lnTo>
                <a:lnTo>
                  <a:pt x="1773808" y="0"/>
                </a:lnTo>
                <a:close/>
              </a:path>
            </a:pathLst>
          </a:custGeom>
          <a:solidFill>
            <a:srgbClr val="C00000"/>
          </a:solidFill>
        </p:spPr>
        <p:txBody>
          <a:bodyPr wrap="square" lIns="0" tIns="0" rIns="0" bIns="0" rtlCol="0"/>
          <a:lstStyle/>
          <a:p>
            <a:endParaRPr/>
          </a:p>
        </p:txBody>
      </p:sp>
      <p:sp>
        <p:nvSpPr>
          <p:cNvPr id="2" name="Holder 2"/>
          <p:cNvSpPr>
            <a:spLocks noGrp="1"/>
          </p:cNvSpPr>
          <p:nvPr>
            <p:ph type="ctrTitle"/>
          </p:nvPr>
        </p:nvSpPr>
        <p:spPr>
          <a:xfrm>
            <a:off x="2213229" y="1501782"/>
            <a:ext cx="3977640" cy="1292860"/>
          </a:xfrm>
          <a:prstGeom prst="rect">
            <a:avLst/>
          </a:prstGeom>
        </p:spPr>
        <p:txBody>
          <a:bodyPr wrap="square" lIns="0" tIns="0" rIns="0" bIns="0">
            <a:spAutoFit/>
          </a:bodyPr>
          <a:lstStyle>
            <a:lvl1pPr>
              <a:defRPr sz="4000" b="1" i="0">
                <a:solidFill>
                  <a:srgbClr val="1A1A1A"/>
                </a:solidFill>
                <a:latin typeface="Calibri"/>
                <a:cs typeface="Calibri"/>
              </a:defRPr>
            </a:lvl1pPr>
          </a:lstStyle>
          <a:p>
            <a:endParaRPr/>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1A1A1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1A1A1A"/>
                </a:solidFill>
                <a:latin typeface="Calibri"/>
                <a:cs typeface="Calibri"/>
              </a:defRPr>
            </a:lvl1pPr>
          </a:lstStyle>
          <a:p>
            <a:endParaRPr/>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1A1A1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0480" y="21335"/>
            <a:ext cx="652272" cy="1048512"/>
          </a:xfrm>
          <a:prstGeom prst="rect">
            <a:avLst/>
          </a:prstGeom>
        </p:spPr>
      </p:pic>
      <p:sp>
        <p:nvSpPr>
          <p:cNvPr id="2" name="Holder 2"/>
          <p:cNvSpPr>
            <a:spLocks noGrp="1"/>
          </p:cNvSpPr>
          <p:nvPr>
            <p:ph type="title"/>
          </p:nvPr>
        </p:nvSpPr>
        <p:spPr>
          <a:xfrm>
            <a:off x="1165961" y="146685"/>
            <a:ext cx="5946140" cy="1258138"/>
          </a:xfrm>
          <a:prstGeom prst="rect">
            <a:avLst/>
          </a:prstGeom>
        </p:spPr>
        <p:txBody>
          <a:bodyPr wrap="square" lIns="0" tIns="0" rIns="0" bIns="0">
            <a:spAutoFit/>
          </a:bodyPr>
          <a:lstStyle>
            <a:lvl1pPr>
              <a:defRPr sz="4000" b="1" i="0">
                <a:solidFill>
                  <a:srgbClr val="1A1A1A"/>
                </a:solidFill>
                <a:latin typeface="Calibri"/>
                <a:cs typeface="Calibri"/>
              </a:defRPr>
            </a:lvl1pPr>
          </a:lstStyle>
          <a:p>
            <a:endParaRPr/>
          </a:p>
        </p:txBody>
      </p:sp>
      <p:sp>
        <p:nvSpPr>
          <p:cNvPr id="3" name="Holder 3"/>
          <p:cNvSpPr>
            <a:spLocks noGrp="1"/>
          </p:cNvSpPr>
          <p:nvPr>
            <p:ph type="body" idx="1"/>
          </p:nvPr>
        </p:nvSpPr>
        <p:spPr>
          <a:xfrm>
            <a:off x="457200" y="1184465"/>
            <a:ext cx="8229600" cy="339890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1/30/2026</a:t>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573773" y="2234"/>
            <a:ext cx="2501265" cy="30035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A6A6A6"/>
                </a:solidFill>
                <a:latin typeface="Calibri"/>
                <a:cs typeface="Calibri"/>
              </a:rPr>
              <a:t>Academic</a:t>
            </a:r>
            <a:r>
              <a:rPr sz="1800" b="1" spc="-60" dirty="0">
                <a:solidFill>
                  <a:srgbClr val="A6A6A6"/>
                </a:solidFill>
                <a:latin typeface="Calibri"/>
                <a:cs typeface="Calibri"/>
              </a:rPr>
              <a:t> </a:t>
            </a:r>
            <a:r>
              <a:rPr sz="1800" b="1" dirty="0">
                <a:solidFill>
                  <a:srgbClr val="A6A6A6"/>
                </a:solidFill>
                <a:latin typeface="Calibri"/>
                <a:cs typeface="Calibri"/>
              </a:rPr>
              <a:t>Session</a:t>
            </a:r>
            <a:r>
              <a:rPr sz="1800" b="1" spc="-75" dirty="0">
                <a:solidFill>
                  <a:srgbClr val="A6A6A6"/>
                </a:solidFill>
                <a:latin typeface="Calibri"/>
                <a:cs typeface="Calibri"/>
              </a:rPr>
              <a:t> </a:t>
            </a:r>
            <a:r>
              <a:rPr sz="1800" b="1" spc="-10" dirty="0">
                <a:solidFill>
                  <a:srgbClr val="A6A6A6"/>
                </a:solidFill>
                <a:latin typeface="Calibri"/>
                <a:cs typeface="Calibri"/>
              </a:rPr>
              <a:t>2025-</a:t>
            </a:r>
            <a:r>
              <a:rPr sz="1800" b="1" spc="-25" dirty="0">
                <a:solidFill>
                  <a:srgbClr val="A6A6A6"/>
                </a:solidFill>
                <a:latin typeface="Calibri"/>
                <a:cs typeface="Calibri"/>
              </a:rPr>
              <a:t>26</a:t>
            </a:r>
            <a:endParaRPr sz="1800">
              <a:latin typeface="Calibri"/>
              <a:cs typeface="Calibri"/>
            </a:endParaRPr>
          </a:p>
        </p:txBody>
      </p:sp>
      <p:sp>
        <p:nvSpPr>
          <p:cNvPr id="3" name="object 3"/>
          <p:cNvSpPr txBox="1">
            <a:spLocks noGrp="1"/>
          </p:cNvSpPr>
          <p:nvPr>
            <p:ph type="ctrTitle"/>
          </p:nvPr>
        </p:nvSpPr>
        <p:spPr>
          <a:xfrm>
            <a:off x="990598" y="898525"/>
            <a:ext cx="7010400" cy="2276264"/>
          </a:xfrm>
          <a:prstGeom prst="rect">
            <a:avLst/>
          </a:prstGeom>
        </p:spPr>
        <p:txBody>
          <a:bodyPr vert="horz" wrap="square" lIns="0" tIns="69850" rIns="0" bIns="0" rtlCol="0">
            <a:spAutoFit/>
          </a:bodyPr>
          <a:lstStyle/>
          <a:p>
            <a:pPr algn="ctr">
              <a:lnSpc>
                <a:spcPct val="100000"/>
              </a:lnSpc>
              <a:spcBef>
                <a:spcPts val="550"/>
              </a:spcBef>
            </a:pPr>
            <a:r>
              <a:rPr lang="en-US" dirty="0">
                <a:solidFill>
                  <a:srgbClr val="000000"/>
                </a:solidFill>
                <a:latin typeface="Arial"/>
                <a:cs typeface="Arial"/>
              </a:rPr>
              <a:t>Automated Resume Screening </a:t>
            </a:r>
            <a:r>
              <a:rPr lang="en-US" dirty="0"/>
              <a:t>Using NLP and Bias Analysis</a:t>
            </a:r>
            <a:endParaRPr spc="-10" dirty="0">
              <a:solidFill>
                <a:srgbClr val="000000"/>
              </a:solidFill>
              <a:latin typeface="Arial"/>
              <a:cs typeface="Arial"/>
            </a:endParaRPr>
          </a:p>
          <a:p>
            <a:pPr marL="9525" algn="ctr">
              <a:lnSpc>
                <a:spcPct val="100000"/>
              </a:lnSpc>
              <a:spcBef>
                <a:spcPts val="405"/>
              </a:spcBef>
            </a:pPr>
            <a:r>
              <a:rPr sz="2000" spc="-10" dirty="0">
                <a:solidFill>
                  <a:srgbClr val="000000"/>
                </a:solidFill>
                <a:latin typeface="Arial"/>
                <a:cs typeface="Arial"/>
              </a:rPr>
              <a:t>(</a:t>
            </a:r>
            <a:r>
              <a:rPr lang="en-US" sz="2000" spc="-10" dirty="0">
                <a:solidFill>
                  <a:srgbClr val="000000"/>
                </a:solidFill>
                <a:latin typeface="Arial"/>
                <a:cs typeface="Arial"/>
              </a:rPr>
              <a:t>AIT-CSE-Big Data Analytics</a:t>
            </a:r>
            <a:r>
              <a:rPr sz="2000" spc="-10" dirty="0">
                <a:solidFill>
                  <a:srgbClr val="000000"/>
                </a:solidFill>
                <a:latin typeface="Arial"/>
                <a:cs typeface="Arial"/>
              </a:rPr>
              <a:t>)</a:t>
            </a:r>
            <a:endParaRPr sz="2000" dirty="0">
              <a:latin typeface="Arial"/>
              <a:cs typeface="Arial"/>
            </a:endParaRPr>
          </a:p>
        </p:txBody>
      </p:sp>
      <p:sp>
        <p:nvSpPr>
          <p:cNvPr id="4" name="object 4"/>
          <p:cNvSpPr txBox="1"/>
          <p:nvPr/>
        </p:nvSpPr>
        <p:spPr>
          <a:xfrm>
            <a:off x="2552699" y="3260725"/>
            <a:ext cx="3886199" cy="1601721"/>
          </a:xfrm>
          <a:prstGeom prst="rect">
            <a:avLst/>
          </a:prstGeom>
        </p:spPr>
        <p:txBody>
          <a:bodyPr vert="horz" wrap="square" lIns="0" tIns="11430" rIns="0" bIns="0" rtlCol="0">
            <a:spAutoFit/>
          </a:bodyPr>
          <a:lstStyle/>
          <a:p>
            <a:pPr marL="12700">
              <a:lnSpc>
                <a:spcPct val="100000"/>
              </a:lnSpc>
              <a:spcBef>
                <a:spcPts val="90"/>
              </a:spcBef>
            </a:pPr>
            <a:r>
              <a:rPr lang="en-US" sz="2000" b="1" spc="-10" dirty="0">
                <a:latin typeface="Arial"/>
                <a:cs typeface="Arial"/>
              </a:rPr>
              <a:t>Bedant Singhania</a:t>
            </a:r>
            <a:r>
              <a:rPr sz="2000" b="1" spc="-10" dirty="0">
                <a:latin typeface="Arial"/>
                <a:cs typeface="Arial"/>
              </a:rPr>
              <a:t>_</a:t>
            </a:r>
            <a:r>
              <a:rPr lang="en-US" sz="2000" b="1" spc="-10" dirty="0">
                <a:latin typeface="Arial"/>
                <a:cs typeface="Arial"/>
              </a:rPr>
              <a:t>23BDA70122</a:t>
            </a:r>
          </a:p>
          <a:p>
            <a:pPr marL="12700">
              <a:lnSpc>
                <a:spcPct val="100000"/>
              </a:lnSpc>
              <a:spcBef>
                <a:spcPts val="90"/>
              </a:spcBef>
            </a:pPr>
            <a:r>
              <a:rPr lang="en-US" sz="2000" b="1" spc="-10" dirty="0">
                <a:latin typeface="Arial"/>
                <a:cs typeface="Arial"/>
              </a:rPr>
              <a:t>Yeshika	     _23BDA70132</a:t>
            </a:r>
          </a:p>
          <a:p>
            <a:pPr marL="12700">
              <a:lnSpc>
                <a:spcPct val="100000"/>
              </a:lnSpc>
              <a:spcBef>
                <a:spcPts val="90"/>
              </a:spcBef>
            </a:pPr>
            <a:r>
              <a:rPr lang="en-US" sz="2000" b="1" spc="-10" dirty="0">
                <a:latin typeface="Arial"/>
                <a:cs typeface="Arial"/>
              </a:rPr>
              <a:t>Gaurav                   _23BDA70050</a:t>
            </a:r>
          </a:p>
          <a:p>
            <a:pPr marL="12700">
              <a:lnSpc>
                <a:spcPct val="100000"/>
              </a:lnSpc>
              <a:spcBef>
                <a:spcPts val="90"/>
              </a:spcBef>
            </a:pPr>
            <a:r>
              <a:rPr lang="en-US" sz="2000" b="1" spc="-10" dirty="0" err="1">
                <a:latin typeface="Arial"/>
                <a:cs typeface="Arial"/>
              </a:rPr>
              <a:t>Manshvi</a:t>
            </a:r>
            <a:r>
              <a:rPr lang="en-US" sz="2000" b="1" spc="-10" dirty="0">
                <a:latin typeface="Arial"/>
                <a:cs typeface="Arial"/>
              </a:rPr>
              <a:t>                 _23BDA70</a:t>
            </a:r>
          </a:p>
          <a:p>
            <a:pPr marL="12700">
              <a:lnSpc>
                <a:spcPct val="100000"/>
              </a:lnSpc>
              <a:spcBef>
                <a:spcPts val="90"/>
              </a:spcBef>
            </a:pPr>
            <a:r>
              <a:rPr lang="en-US" sz="2000" b="1" spc="-10" dirty="0">
                <a:latin typeface="Arial"/>
                <a:cs typeface="Arial"/>
              </a:rPr>
              <a:t>Javed Akhtar         _23BDA70114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92133" y="110489"/>
            <a:ext cx="123825" cy="238125"/>
          </a:xfrm>
          <a:prstGeom prst="rect">
            <a:avLst/>
          </a:prstGeom>
        </p:spPr>
        <p:txBody>
          <a:bodyPr vert="horz" wrap="square" lIns="0" tIns="11430" rIns="0" bIns="0" rtlCol="0">
            <a:spAutoFit/>
          </a:bodyPr>
          <a:lstStyle/>
          <a:p>
            <a:pPr marL="12700">
              <a:lnSpc>
                <a:spcPct val="100000"/>
              </a:lnSpc>
              <a:spcBef>
                <a:spcPts val="90"/>
              </a:spcBef>
            </a:pPr>
            <a:r>
              <a:rPr sz="1400" spc="-50" dirty="0">
                <a:latin typeface="Arial MT"/>
                <a:cs typeface="Arial MT"/>
              </a:rPr>
              <a:t>1</a:t>
            </a:r>
            <a:endParaRPr sz="14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173684" rIns="0" bIns="0" rtlCol="0">
            <a:spAutoFit/>
          </a:bodyPr>
          <a:lstStyle/>
          <a:p>
            <a:pPr marL="1772920">
              <a:lnSpc>
                <a:spcPct val="100000"/>
              </a:lnSpc>
              <a:spcBef>
                <a:spcPts val="110"/>
              </a:spcBef>
            </a:pPr>
            <a:r>
              <a:rPr spc="-10" dirty="0"/>
              <a:t>INTRODUCTION</a:t>
            </a:r>
          </a:p>
        </p:txBody>
      </p:sp>
      <p:sp>
        <p:nvSpPr>
          <p:cNvPr id="4" name="TextBox 3">
            <a:extLst>
              <a:ext uri="{FF2B5EF4-FFF2-40B4-BE49-F238E27FC236}">
                <a16:creationId xmlns:a16="http://schemas.microsoft.com/office/drawing/2014/main" id="{6E6B838F-6085-E2F2-2A9B-30287BC6239F}"/>
              </a:ext>
            </a:extLst>
          </p:cNvPr>
          <p:cNvSpPr txBox="1"/>
          <p:nvPr/>
        </p:nvSpPr>
        <p:spPr>
          <a:xfrm>
            <a:off x="1066800" y="1584325"/>
            <a:ext cx="7124700" cy="304698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Automated Resume Screening using Natural Language Processing (NLP) is an AI-based system designed to analyze and filter job applicants’ resumes automatically. Traditional recruitment processes are time-consuming and prone to human bias, inconsistency, and errors. By integrating NLP and Machine Learning techniques, organizations can efficiently process large volumes of resumes, extract relevant skills, and shortlist suitable candidates.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However, automated systems can also inherit or amplify biases present in historical hiring data. Therefore, this project not only focuses on automation but also emphasizes </a:t>
            </a:r>
            <a:r>
              <a:rPr lang="en-US" sz="1600" b="1" dirty="0">
                <a:latin typeface="Times New Roman" panose="02020603050405020304" pitchFamily="18" charset="0"/>
                <a:cs typeface="Times New Roman" panose="02020603050405020304" pitchFamily="18" charset="0"/>
              </a:rPr>
              <a:t>bias detection, fairness evaluation, and ethical AI decision-making</a:t>
            </a:r>
            <a:r>
              <a:rPr lang="en-US" sz="1600" dirty="0">
                <a:latin typeface="Times New Roman" panose="02020603050405020304" pitchFamily="18" charset="0"/>
                <a:cs typeface="Times New Roman" panose="02020603050405020304" pitchFamily="18" charset="0"/>
              </a:rPr>
              <a:t> to ensure equal opportunities for all applicants.</a:t>
            </a:r>
          </a:p>
          <a:p>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12725"/>
            <a:ext cx="5946140" cy="1258138"/>
          </a:xfrm>
          <a:prstGeom prst="rect">
            <a:avLst/>
          </a:prstGeom>
        </p:spPr>
        <p:txBody>
          <a:bodyPr vert="horz" wrap="square" lIns="0" tIns="13970" rIns="0" bIns="0" rtlCol="0">
            <a:spAutoFit/>
          </a:bodyPr>
          <a:lstStyle/>
          <a:p>
            <a:pPr marL="1397000" marR="5080" indent="-981710">
              <a:lnSpc>
                <a:spcPct val="100000"/>
              </a:lnSpc>
              <a:spcBef>
                <a:spcPts val="110"/>
              </a:spcBef>
            </a:pPr>
            <a:r>
              <a:rPr spc="-10" dirty="0"/>
              <a:t>SOFTWARE/HARDWARE REQUIREMENT</a:t>
            </a:r>
          </a:p>
        </p:txBody>
      </p:sp>
      <p:sp>
        <p:nvSpPr>
          <p:cNvPr id="3" name="object 3"/>
          <p:cNvSpPr txBox="1"/>
          <p:nvPr/>
        </p:nvSpPr>
        <p:spPr>
          <a:xfrm>
            <a:off x="8692133" y="110489"/>
            <a:ext cx="123825" cy="238125"/>
          </a:xfrm>
          <a:prstGeom prst="rect">
            <a:avLst/>
          </a:prstGeom>
        </p:spPr>
        <p:txBody>
          <a:bodyPr vert="horz" wrap="square" lIns="0" tIns="11430" rIns="0" bIns="0" rtlCol="0">
            <a:spAutoFit/>
          </a:bodyPr>
          <a:lstStyle/>
          <a:p>
            <a:pPr marL="12700">
              <a:lnSpc>
                <a:spcPct val="100000"/>
              </a:lnSpc>
              <a:spcBef>
                <a:spcPts val="90"/>
              </a:spcBef>
            </a:pPr>
            <a:r>
              <a:rPr sz="1400" spc="-50" dirty="0">
                <a:latin typeface="Arial MT"/>
                <a:cs typeface="Arial MT"/>
              </a:rPr>
              <a:t>2</a:t>
            </a:r>
            <a:endParaRPr sz="1400">
              <a:latin typeface="Arial MT"/>
              <a:cs typeface="Arial MT"/>
            </a:endParaRPr>
          </a:p>
        </p:txBody>
      </p:sp>
      <p:sp>
        <p:nvSpPr>
          <p:cNvPr id="4" name="TextBox 3">
            <a:extLst>
              <a:ext uri="{FF2B5EF4-FFF2-40B4-BE49-F238E27FC236}">
                <a16:creationId xmlns:a16="http://schemas.microsoft.com/office/drawing/2014/main" id="{5AEA84FC-C6AC-C0E9-A9E1-93A1FD39A042}"/>
              </a:ext>
            </a:extLst>
          </p:cNvPr>
          <p:cNvSpPr txBox="1"/>
          <p:nvPr/>
        </p:nvSpPr>
        <p:spPr>
          <a:xfrm>
            <a:off x="2611583" y="6298443"/>
            <a:ext cx="6172200" cy="761995"/>
          </a:xfrm>
          <a:prstGeom prst="rect">
            <a:avLst/>
          </a:prstGeom>
          <a:noFill/>
        </p:spPr>
        <p:txBody>
          <a:bodyPr wrap="square" rtlCol="0">
            <a:spAutoFit/>
          </a:bodyPr>
          <a:lstStyle/>
          <a:p>
            <a:endParaRPr lang="en-IN" dirty="0"/>
          </a:p>
        </p:txBody>
      </p:sp>
      <p:sp>
        <p:nvSpPr>
          <p:cNvPr id="7" name="Rectangle 3">
            <a:extLst>
              <a:ext uri="{FF2B5EF4-FFF2-40B4-BE49-F238E27FC236}">
                <a16:creationId xmlns:a16="http://schemas.microsoft.com/office/drawing/2014/main" id="{CE3F6930-93F7-403D-2876-074AB7B3E760}"/>
              </a:ext>
            </a:extLst>
          </p:cNvPr>
          <p:cNvSpPr>
            <a:spLocks noChangeArrowheads="1"/>
          </p:cNvSpPr>
          <p:nvPr/>
        </p:nvSpPr>
        <p:spPr bwMode="auto">
          <a:xfrm>
            <a:off x="990600" y="1736725"/>
            <a:ext cx="841663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 / Linux / macOS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&amp; Frameworks: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 NLTK,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spaCy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Transformers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Scikit-learn, TensorFlow or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Handling: Pandas, NumPy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 Matplotlib, Seaborn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IDE/Tools: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VS Code / PyCharm /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MySQL / MongoDB / PostgreSQL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Version Control: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Git &amp; GitHub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5772" rIns="0" bIns="0" rtlCol="0">
            <a:spAutoFit/>
          </a:bodyPr>
          <a:lstStyle/>
          <a:p>
            <a:pPr marL="866775">
              <a:lnSpc>
                <a:spcPct val="100000"/>
              </a:lnSpc>
              <a:spcBef>
                <a:spcPts val="110"/>
              </a:spcBef>
            </a:pPr>
            <a:r>
              <a:rPr dirty="0"/>
              <a:t>PROBLEM</a:t>
            </a:r>
            <a:r>
              <a:rPr spc="-155" dirty="0"/>
              <a:t> </a:t>
            </a:r>
            <a:r>
              <a:rPr spc="-10" dirty="0"/>
              <a:t>STATEMENTS</a:t>
            </a:r>
          </a:p>
        </p:txBody>
      </p:sp>
      <p:sp>
        <p:nvSpPr>
          <p:cNvPr id="3" name="object 3"/>
          <p:cNvSpPr txBox="1"/>
          <p:nvPr/>
        </p:nvSpPr>
        <p:spPr>
          <a:xfrm>
            <a:off x="8692133" y="110489"/>
            <a:ext cx="123825" cy="238125"/>
          </a:xfrm>
          <a:prstGeom prst="rect">
            <a:avLst/>
          </a:prstGeom>
        </p:spPr>
        <p:txBody>
          <a:bodyPr vert="horz" wrap="square" lIns="0" tIns="11430" rIns="0" bIns="0" rtlCol="0">
            <a:spAutoFit/>
          </a:bodyPr>
          <a:lstStyle/>
          <a:p>
            <a:pPr marL="12700">
              <a:lnSpc>
                <a:spcPct val="100000"/>
              </a:lnSpc>
              <a:spcBef>
                <a:spcPts val="90"/>
              </a:spcBef>
            </a:pPr>
            <a:r>
              <a:rPr sz="1400" spc="-50" dirty="0">
                <a:latin typeface="Arial MT"/>
                <a:cs typeface="Arial MT"/>
              </a:rPr>
              <a:t>3</a:t>
            </a:r>
            <a:endParaRPr sz="1400">
              <a:latin typeface="Arial MT"/>
              <a:cs typeface="Arial MT"/>
            </a:endParaRPr>
          </a:p>
        </p:txBody>
      </p:sp>
      <p:sp>
        <p:nvSpPr>
          <p:cNvPr id="4" name="TextBox 3">
            <a:extLst>
              <a:ext uri="{FF2B5EF4-FFF2-40B4-BE49-F238E27FC236}">
                <a16:creationId xmlns:a16="http://schemas.microsoft.com/office/drawing/2014/main" id="{7D82414A-3E68-5E2F-D8CF-64CE81DE6C84}"/>
              </a:ext>
            </a:extLst>
          </p:cNvPr>
          <p:cNvSpPr txBox="1"/>
          <p:nvPr/>
        </p:nvSpPr>
        <p:spPr>
          <a:xfrm rot="10800000" flipH="1" flipV="1">
            <a:off x="1295400" y="1355725"/>
            <a:ext cx="6400800" cy="304698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Recruitment departments often receive thousands of resumes for a single job opening. Manual screening: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Consumes excessive time and resources.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Leads to inconsistent evaluation criteria.</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Is prone to unconscious bias (gender, ethnicity, college background, etc.).</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Reduces overall hiring efficiency.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problem is to design an </a:t>
            </a:r>
            <a:r>
              <a:rPr lang="en-US" sz="1600" b="1" dirty="0">
                <a:latin typeface="Times New Roman" panose="02020603050405020304" pitchFamily="18" charset="0"/>
                <a:cs typeface="Times New Roman" panose="02020603050405020304" pitchFamily="18" charset="0"/>
              </a:rPr>
              <a:t>automated resume screening system</a:t>
            </a:r>
            <a:r>
              <a:rPr lang="en-US" sz="1600" dirty="0">
                <a:latin typeface="Times New Roman" panose="02020603050405020304" pitchFamily="18" charset="0"/>
                <a:cs typeface="Times New Roman" panose="02020603050405020304" pitchFamily="18" charset="0"/>
              </a:rPr>
              <a:t> that: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Accurately matches candidate skills with job requirements.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Detects and minimizes bias.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Maintains fairness and transparency in decision making.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7011" y="36262"/>
            <a:ext cx="5946140" cy="1258138"/>
          </a:xfrm>
          <a:prstGeom prst="rect">
            <a:avLst/>
          </a:prstGeom>
        </p:spPr>
        <p:txBody>
          <a:bodyPr vert="horz" wrap="square" lIns="0" tIns="361137" rIns="0" bIns="0" rtlCol="0">
            <a:spAutoFit/>
          </a:bodyPr>
          <a:lstStyle/>
          <a:p>
            <a:pPr marL="959485">
              <a:lnSpc>
                <a:spcPct val="100000"/>
              </a:lnSpc>
              <a:spcBef>
                <a:spcPts val="110"/>
              </a:spcBef>
            </a:pPr>
            <a:r>
              <a:rPr dirty="0"/>
              <a:t>PRELIMINARY</a:t>
            </a:r>
            <a:r>
              <a:rPr spc="-80" dirty="0"/>
              <a:t> </a:t>
            </a:r>
            <a:r>
              <a:rPr spc="-10" dirty="0"/>
              <a:t>DESIGN</a:t>
            </a:r>
          </a:p>
        </p:txBody>
      </p:sp>
      <p:sp>
        <p:nvSpPr>
          <p:cNvPr id="3" name="TextBox 2">
            <a:extLst>
              <a:ext uri="{FF2B5EF4-FFF2-40B4-BE49-F238E27FC236}">
                <a16:creationId xmlns:a16="http://schemas.microsoft.com/office/drawing/2014/main" id="{66D19454-3CB6-931C-2450-E86003EE0E26}"/>
              </a:ext>
            </a:extLst>
          </p:cNvPr>
          <p:cNvSpPr txBox="1"/>
          <p:nvPr/>
        </p:nvSpPr>
        <p:spPr>
          <a:xfrm>
            <a:off x="1143000" y="1127125"/>
            <a:ext cx="7467600" cy="4031873"/>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The system architecture consists of the following modules:</a:t>
            </a:r>
          </a:p>
          <a:p>
            <a:r>
              <a:rPr lang="en-IN" sz="1600" b="1" dirty="0">
                <a:latin typeface="Times New Roman" panose="02020603050405020304" pitchFamily="18" charset="0"/>
                <a:cs typeface="Times New Roman" panose="02020603050405020304" pitchFamily="18" charset="0"/>
              </a:rPr>
              <a:t>1. Data Collection Module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Collect resumes and job descriptions in PDF/DOC/TXT formats.</a:t>
            </a:r>
          </a:p>
          <a:p>
            <a:r>
              <a:rPr lang="en-IN" sz="1600" b="1" dirty="0">
                <a:latin typeface="Times New Roman" panose="02020603050405020304" pitchFamily="18" charset="0"/>
                <a:cs typeface="Times New Roman" panose="02020603050405020304" pitchFamily="18" charset="0"/>
              </a:rPr>
              <a:t>2. Pre-Processing Module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Text cleaning, tokenization, stop-word removal, stemming/lemmatization.</a:t>
            </a:r>
          </a:p>
          <a:p>
            <a:r>
              <a:rPr lang="en-IN" sz="1600" b="1" dirty="0">
                <a:latin typeface="Times New Roman" panose="02020603050405020304" pitchFamily="18" charset="0"/>
                <a:cs typeface="Times New Roman" panose="02020603050405020304" pitchFamily="18" charset="0"/>
              </a:rPr>
              <a:t>3. Feature Extraction Module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Skill extraction, keyword matching, semantic similarity scoring.</a:t>
            </a:r>
          </a:p>
          <a:p>
            <a:r>
              <a:rPr lang="en-IN" sz="1600" b="1" dirty="0">
                <a:latin typeface="Times New Roman" panose="02020603050405020304" pitchFamily="18" charset="0"/>
                <a:cs typeface="Times New Roman" panose="02020603050405020304" pitchFamily="18" charset="0"/>
              </a:rPr>
              <a:t>4. Screening &amp; Ranking Module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ML model ranks candidates based on job relevance.</a:t>
            </a:r>
          </a:p>
          <a:p>
            <a:r>
              <a:rPr lang="en-IN" sz="1600" b="1" dirty="0">
                <a:latin typeface="Times New Roman" panose="02020603050405020304" pitchFamily="18" charset="0"/>
                <a:cs typeface="Times New Roman" panose="02020603050405020304" pitchFamily="18" charset="0"/>
              </a:rPr>
              <a:t>5. Bias Detection Module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Identifies sensitive attributes (gender, age, ethnicity indicators).</a:t>
            </a:r>
          </a:p>
          <a:p>
            <a:r>
              <a:rPr lang="en-IN" sz="1600" b="1" dirty="0">
                <a:latin typeface="Times New Roman" panose="02020603050405020304" pitchFamily="18" charset="0"/>
                <a:cs typeface="Times New Roman" panose="02020603050405020304" pitchFamily="18" charset="0"/>
              </a:rPr>
              <a:t>6. Fairness Evaluation Module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Uses fairness metrics (e.g., demographic parity, equal opportunity).</a:t>
            </a:r>
          </a:p>
          <a:p>
            <a:r>
              <a:rPr lang="en-IN" sz="1600" b="1" dirty="0">
                <a:latin typeface="Times New Roman" panose="02020603050405020304" pitchFamily="18" charset="0"/>
                <a:cs typeface="Times New Roman" panose="02020603050405020304" pitchFamily="18" charset="0"/>
              </a:rPr>
              <a:t>7. Reporting &amp; Visualization Module</a:t>
            </a:r>
            <a:endParaRPr lang="en-IN" sz="1600" dirty="0">
              <a:latin typeface="Times New Roman" panose="02020603050405020304" pitchFamily="18" charset="0"/>
              <a:cs typeface="Times New Roman" panose="02020603050405020304" pitchFamily="18" charset="0"/>
            </a:endParaRPr>
          </a:p>
          <a:p>
            <a:pPr lvl="1"/>
            <a:r>
              <a:rPr lang="en-IN" sz="1600" dirty="0">
                <a:latin typeface="Times New Roman" panose="02020603050405020304" pitchFamily="18" charset="0"/>
                <a:cs typeface="Times New Roman" panose="02020603050405020304" pitchFamily="18" charset="0"/>
              </a:rPr>
              <a:t>Displays shortlisted candidates and fairness analysis results.</a:t>
            </a:r>
          </a:p>
          <a:p>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243840" marR="5080" indent="-231775">
              <a:lnSpc>
                <a:spcPct val="100000"/>
              </a:lnSpc>
              <a:spcBef>
                <a:spcPts val="105"/>
              </a:spcBef>
            </a:pPr>
            <a:r>
              <a:rPr dirty="0"/>
              <a:t>PROJECT</a:t>
            </a:r>
            <a:r>
              <a:rPr spc="-60" dirty="0"/>
              <a:t> </a:t>
            </a:r>
            <a:r>
              <a:rPr spc="-10" dirty="0"/>
              <a:t>IMPLEMENTATION </a:t>
            </a:r>
            <a:r>
              <a:rPr dirty="0"/>
              <a:t>AND</a:t>
            </a:r>
            <a:r>
              <a:rPr spc="-30" dirty="0"/>
              <a:t> </a:t>
            </a:r>
            <a:r>
              <a:rPr dirty="0"/>
              <a:t>REAL</a:t>
            </a:r>
            <a:r>
              <a:rPr spc="-15" dirty="0"/>
              <a:t> </a:t>
            </a:r>
            <a:r>
              <a:rPr dirty="0"/>
              <a:t>TIME</a:t>
            </a:r>
            <a:r>
              <a:rPr spc="-55" dirty="0"/>
              <a:t> </a:t>
            </a:r>
            <a:r>
              <a:rPr spc="-10" dirty="0"/>
              <a:t>EXAMPLE</a:t>
            </a:r>
          </a:p>
        </p:txBody>
      </p:sp>
      <p:sp>
        <p:nvSpPr>
          <p:cNvPr id="3" name="TextBox 2">
            <a:extLst>
              <a:ext uri="{FF2B5EF4-FFF2-40B4-BE49-F238E27FC236}">
                <a16:creationId xmlns:a16="http://schemas.microsoft.com/office/drawing/2014/main" id="{921BB11B-D79A-2427-CC65-3FFD3E6ECA29}"/>
              </a:ext>
            </a:extLst>
          </p:cNvPr>
          <p:cNvSpPr txBox="1"/>
          <p:nvPr/>
        </p:nvSpPr>
        <p:spPr>
          <a:xfrm>
            <a:off x="381000" y="1463735"/>
            <a:ext cx="3900069" cy="3539430"/>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The implementation is carried out in phases:</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Phase 1: Data Preparation</a:t>
            </a:r>
          </a:p>
          <a:p>
            <a:r>
              <a:rPr lang="en-IN" sz="1400" dirty="0">
                <a:latin typeface="Times New Roman" panose="02020603050405020304" pitchFamily="18" charset="0"/>
                <a:cs typeface="Times New Roman" panose="02020603050405020304" pitchFamily="18" charset="0"/>
              </a:rPr>
              <a:t>Gather resume datasets and job descriptions.</a:t>
            </a:r>
          </a:p>
          <a:p>
            <a:r>
              <a:rPr lang="en-IN" sz="1400" dirty="0">
                <a:latin typeface="Times New Roman" panose="02020603050405020304" pitchFamily="18" charset="0"/>
                <a:cs typeface="Times New Roman" panose="02020603050405020304" pitchFamily="18" charset="0"/>
              </a:rPr>
              <a:t>Label relevant skills and attributes.</a:t>
            </a:r>
          </a:p>
          <a:p>
            <a:r>
              <a:rPr lang="en-IN" sz="1400" b="1" dirty="0">
                <a:latin typeface="Times New Roman" panose="02020603050405020304" pitchFamily="18" charset="0"/>
                <a:cs typeface="Times New Roman" panose="02020603050405020304" pitchFamily="18" charset="0"/>
              </a:rPr>
              <a:t>Phase 2: NLP Model Development</a:t>
            </a:r>
          </a:p>
          <a:p>
            <a:r>
              <a:rPr lang="en-IN" sz="1400" dirty="0">
                <a:latin typeface="Times New Roman" panose="02020603050405020304" pitchFamily="18" charset="0"/>
                <a:cs typeface="Times New Roman" panose="02020603050405020304" pitchFamily="18" charset="0"/>
              </a:rPr>
              <a:t>Apply tokenization, POS tagging, and Named Entity Recognition.</a:t>
            </a:r>
          </a:p>
          <a:p>
            <a:r>
              <a:rPr lang="en-IN" sz="1400" dirty="0">
                <a:latin typeface="Times New Roman" panose="02020603050405020304" pitchFamily="18" charset="0"/>
                <a:cs typeface="Times New Roman" panose="02020603050405020304" pitchFamily="18" charset="0"/>
              </a:rPr>
              <a:t>Use TF-IDF or word embeddings (Word2Vec/BERT).</a:t>
            </a:r>
          </a:p>
          <a:p>
            <a:r>
              <a:rPr lang="en-IN" sz="1400" b="1" dirty="0">
                <a:latin typeface="Times New Roman" panose="02020603050405020304" pitchFamily="18" charset="0"/>
                <a:cs typeface="Times New Roman" panose="02020603050405020304" pitchFamily="18" charset="0"/>
              </a:rPr>
              <a:t>Phase 3: Machine Learning Model</a:t>
            </a:r>
          </a:p>
          <a:p>
            <a:r>
              <a:rPr lang="en-IN" sz="1400" dirty="0">
                <a:latin typeface="Times New Roman" panose="02020603050405020304" pitchFamily="18" charset="0"/>
                <a:cs typeface="Times New Roman" panose="02020603050405020304" pitchFamily="18" charset="0"/>
              </a:rPr>
              <a:t>Train classification or ranking algorithms (Logistic Regression, SVM, or Neural Networks).</a:t>
            </a:r>
          </a:p>
          <a:p>
            <a:r>
              <a:rPr lang="en-IN" sz="1400" dirty="0">
                <a:latin typeface="Times New Roman" panose="02020603050405020304" pitchFamily="18" charset="0"/>
                <a:cs typeface="Times New Roman" panose="02020603050405020304" pitchFamily="18" charset="0"/>
              </a:rPr>
              <a:t>Evaluate using accuracy, precision, recall, and F1-score.</a:t>
            </a:r>
          </a:p>
          <a:p>
            <a:endParaRPr lang="en-IN" sz="1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6E01889-B4F9-C01E-7DD1-9E5DC1B932C0}"/>
              </a:ext>
            </a:extLst>
          </p:cNvPr>
          <p:cNvSpPr txBox="1"/>
          <p:nvPr/>
        </p:nvSpPr>
        <p:spPr>
          <a:xfrm>
            <a:off x="4622878" y="1894622"/>
            <a:ext cx="4521122" cy="2677656"/>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Phase 4: Bias Analysis</a:t>
            </a:r>
          </a:p>
          <a:p>
            <a:r>
              <a:rPr lang="en-IN" sz="1400" dirty="0">
                <a:latin typeface="Times New Roman" panose="02020603050405020304" pitchFamily="18" charset="0"/>
                <a:cs typeface="Times New Roman" panose="02020603050405020304" pitchFamily="18" charset="0"/>
              </a:rPr>
              <a:t>Detect patterns </a:t>
            </a:r>
            <a:r>
              <a:rPr lang="en-IN" sz="1400" dirty="0" err="1">
                <a:latin typeface="Times New Roman" panose="02020603050405020304" pitchFamily="18" charset="0"/>
                <a:cs typeface="Times New Roman" panose="02020603050405020304" pitchFamily="18" charset="0"/>
              </a:rPr>
              <a:t>favoring</a:t>
            </a:r>
            <a:r>
              <a:rPr lang="en-IN" sz="1400" dirty="0">
                <a:latin typeface="Times New Roman" panose="02020603050405020304" pitchFamily="18" charset="0"/>
                <a:cs typeface="Times New Roman" panose="02020603050405020304" pitchFamily="18" charset="0"/>
              </a:rPr>
              <a:t> certain groups.</a:t>
            </a:r>
          </a:p>
          <a:p>
            <a:r>
              <a:rPr lang="en-IN" sz="1400" dirty="0">
                <a:latin typeface="Times New Roman" panose="02020603050405020304" pitchFamily="18" charset="0"/>
                <a:cs typeface="Times New Roman" panose="02020603050405020304" pitchFamily="18" charset="0"/>
              </a:rPr>
              <a:t>Apply fairness algorithms to balance predictions.</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Phase 5: System Integration</a:t>
            </a:r>
          </a:p>
          <a:p>
            <a:r>
              <a:rPr lang="en-IN" sz="1400" dirty="0">
                <a:latin typeface="Times New Roman" panose="02020603050405020304" pitchFamily="18" charset="0"/>
                <a:cs typeface="Times New Roman" panose="02020603050405020304" pitchFamily="18" charset="0"/>
              </a:rPr>
              <a:t>Build a user interface/dashboard.</a:t>
            </a:r>
          </a:p>
          <a:p>
            <a:r>
              <a:rPr lang="en-IN" sz="1400" dirty="0">
                <a:latin typeface="Times New Roman" panose="02020603050405020304" pitchFamily="18" charset="0"/>
                <a:cs typeface="Times New Roman" panose="02020603050405020304" pitchFamily="18" charset="0"/>
              </a:rPr>
              <a:t>Integrate database and reporting tools.</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Phase 6: Testing &amp; Validation</a:t>
            </a:r>
          </a:p>
          <a:p>
            <a:r>
              <a:rPr lang="en-IN" sz="1400" dirty="0">
                <a:latin typeface="Times New Roman" panose="02020603050405020304" pitchFamily="18" charset="0"/>
                <a:cs typeface="Times New Roman" panose="02020603050405020304" pitchFamily="18" charset="0"/>
              </a:rPr>
              <a:t>Test with real resumes.</a:t>
            </a:r>
          </a:p>
          <a:p>
            <a:r>
              <a:rPr lang="en-IN" sz="1400" dirty="0">
                <a:latin typeface="Times New Roman" panose="02020603050405020304" pitchFamily="18" charset="0"/>
                <a:cs typeface="Times New Roman" panose="02020603050405020304" pitchFamily="18" charset="0"/>
              </a:rPr>
              <a:t>Compare manual vs automated results.</a:t>
            </a:r>
          </a:p>
          <a:p>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63BA4-772F-540A-F05E-F362CCE0C7E6}"/>
              </a:ext>
            </a:extLst>
          </p:cNvPr>
          <p:cNvSpPr>
            <a:spLocks noGrp="1"/>
          </p:cNvSpPr>
          <p:nvPr>
            <p:ph type="title"/>
          </p:nvPr>
        </p:nvSpPr>
        <p:spPr>
          <a:xfrm>
            <a:off x="2133600" y="365125"/>
            <a:ext cx="5946140" cy="615553"/>
          </a:xfrm>
        </p:spPr>
        <p:txBody>
          <a:bodyPr/>
          <a:lstStyle/>
          <a:p>
            <a:r>
              <a:rPr lang="en-IN" dirty="0"/>
              <a:t>REAL</a:t>
            </a:r>
            <a:r>
              <a:rPr lang="en-IN" spc="-15" dirty="0"/>
              <a:t> </a:t>
            </a:r>
            <a:r>
              <a:rPr lang="en-IN" dirty="0"/>
              <a:t>TIME</a:t>
            </a:r>
            <a:r>
              <a:rPr lang="en-IN" spc="-55" dirty="0"/>
              <a:t> </a:t>
            </a:r>
            <a:r>
              <a:rPr lang="en-IN" spc="-10" dirty="0"/>
              <a:t>EXAMPLE</a:t>
            </a:r>
            <a:endParaRPr lang="en-IN" dirty="0"/>
          </a:p>
        </p:txBody>
      </p:sp>
      <p:sp>
        <p:nvSpPr>
          <p:cNvPr id="3" name="TextBox 2">
            <a:extLst>
              <a:ext uri="{FF2B5EF4-FFF2-40B4-BE49-F238E27FC236}">
                <a16:creationId xmlns:a16="http://schemas.microsoft.com/office/drawing/2014/main" id="{706E9619-4294-9009-F92F-E4AED7FB2232}"/>
              </a:ext>
            </a:extLst>
          </p:cNvPr>
          <p:cNvSpPr txBox="1"/>
          <p:nvPr/>
        </p:nvSpPr>
        <p:spPr>
          <a:xfrm>
            <a:off x="685800" y="1050925"/>
            <a:ext cx="8028160" cy="427809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Consider a multinational company receiving </a:t>
            </a:r>
            <a:r>
              <a:rPr lang="en-US" sz="1600" b="1" dirty="0">
                <a:latin typeface="Times New Roman" panose="02020603050405020304" pitchFamily="18" charset="0"/>
                <a:cs typeface="Times New Roman" panose="02020603050405020304" pitchFamily="18" charset="0"/>
              </a:rPr>
              <a:t>5,000 resumes</a:t>
            </a:r>
            <a:r>
              <a:rPr lang="en-US" sz="1600" dirty="0">
                <a:latin typeface="Times New Roman" panose="02020603050405020304" pitchFamily="18" charset="0"/>
                <a:cs typeface="Times New Roman" panose="02020603050405020304" pitchFamily="18" charset="0"/>
              </a:rPr>
              <a:t> for a Software Developer position.</a:t>
            </a:r>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Without Automation: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HR team manually reviews resumes for 2–3 weeks.</a:t>
            </a:r>
          </a:p>
          <a:p>
            <a:r>
              <a:rPr lang="en-US" sz="1600" dirty="0">
                <a:latin typeface="Times New Roman" panose="02020603050405020304" pitchFamily="18" charset="0"/>
                <a:cs typeface="Times New Roman" panose="02020603050405020304" pitchFamily="18" charset="0"/>
              </a:rPr>
              <a:t>High chance of overlooking qualified candidates.</a:t>
            </a:r>
          </a:p>
          <a:p>
            <a:r>
              <a:rPr lang="en-US" sz="1600" dirty="0">
                <a:latin typeface="Times New Roman" panose="02020603050405020304" pitchFamily="18" charset="0"/>
                <a:cs typeface="Times New Roman" panose="02020603050405020304" pitchFamily="18" charset="0"/>
              </a:rPr>
              <a:t>Possible bias toward certain colleges or genders.</a:t>
            </a:r>
          </a:p>
          <a:p>
            <a:pPr marL="285750"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With Automated Resume Screening System:</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System scans all resumes in minutes.</a:t>
            </a:r>
          </a:p>
          <a:p>
            <a:r>
              <a:rPr lang="en-US" sz="1600" dirty="0">
                <a:latin typeface="Times New Roman" panose="02020603050405020304" pitchFamily="18" charset="0"/>
                <a:cs typeface="Times New Roman" panose="02020603050405020304" pitchFamily="18" charset="0"/>
              </a:rPr>
              <a:t>Extracts skills like Python, Java, React, SQL.</a:t>
            </a:r>
          </a:p>
          <a:p>
            <a:r>
              <a:rPr lang="en-US" sz="1600" dirty="0">
                <a:latin typeface="Times New Roman" panose="02020603050405020304" pitchFamily="18" charset="0"/>
                <a:cs typeface="Times New Roman" panose="02020603050405020304" pitchFamily="18" charset="0"/>
              </a:rPr>
              <a:t>Matches them with job requirements.</a:t>
            </a:r>
          </a:p>
          <a:p>
            <a:r>
              <a:rPr lang="en-US" sz="1600" dirty="0">
                <a:latin typeface="Times New Roman" panose="02020603050405020304" pitchFamily="18" charset="0"/>
                <a:cs typeface="Times New Roman" panose="02020603050405020304" pitchFamily="18" charset="0"/>
              </a:rPr>
              <a:t>Flags bias if most shortlisted candidates belong to one demographic group.</a:t>
            </a:r>
          </a:p>
          <a:p>
            <a:r>
              <a:rPr lang="en-US" sz="1600" dirty="0">
                <a:latin typeface="Times New Roman" panose="02020603050405020304" pitchFamily="18" charset="0"/>
                <a:cs typeface="Times New Roman" panose="02020603050405020304" pitchFamily="18" charset="0"/>
              </a:rPr>
              <a:t>Provides a fair, ranked shortlist of top 50 candidates.</a:t>
            </a:r>
          </a:p>
          <a:p>
            <a:endParaRPr lang="en-US" sz="1600"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US" sz="1600" b="1" dirty="0">
                <a:latin typeface="Times New Roman" panose="02020603050405020304" pitchFamily="18" charset="0"/>
                <a:cs typeface="Times New Roman" panose="02020603050405020304" pitchFamily="18" charset="0"/>
              </a:rPr>
              <a:t>Result:</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Time reduced from weeks to hours.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Improved fairness and transparency.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Better hiring decisions based on data rather than assumptions.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6740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4709" y="1487271"/>
            <a:ext cx="7220584" cy="1489710"/>
          </a:xfrm>
          <a:prstGeom prst="rect">
            <a:avLst/>
          </a:prstGeom>
        </p:spPr>
        <p:txBody>
          <a:bodyPr vert="horz" wrap="square" lIns="0" tIns="13335" rIns="0" bIns="0" rtlCol="0">
            <a:spAutoFit/>
          </a:bodyPr>
          <a:lstStyle/>
          <a:p>
            <a:pPr marL="12700">
              <a:lnSpc>
                <a:spcPct val="100000"/>
              </a:lnSpc>
              <a:spcBef>
                <a:spcPts val="105"/>
              </a:spcBef>
            </a:pPr>
            <a:r>
              <a:rPr sz="9600" dirty="0">
                <a:solidFill>
                  <a:srgbClr val="000000"/>
                </a:solidFill>
                <a:latin typeface="Arial"/>
                <a:cs typeface="Arial"/>
              </a:rPr>
              <a:t>THANK</a:t>
            </a:r>
            <a:r>
              <a:rPr sz="9600" spc="-400" dirty="0">
                <a:solidFill>
                  <a:srgbClr val="000000"/>
                </a:solidFill>
                <a:latin typeface="Arial"/>
                <a:cs typeface="Arial"/>
              </a:rPr>
              <a:t> </a:t>
            </a:r>
            <a:r>
              <a:rPr sz="9600" spc="-25" dirty="0">
                <a:solidFill>
                  <a:srgbClr val="000000"/>
                </a:solidFill>
                <a:latin typeface="Arial"/>
                <a:cs typeface="Arial"/>
              </a:rPr>
              <a:t>YOU</a:t>
            </a:r>
            <a:endParaRPr sz="9600">
              <a:latin typeface="Arial"/>
              <a:cs typeface="Arial"/>
            </a:endParaRPr>
          </a:p>
        </p:txBody>
      </p:sp>
      <p:sp>
        <p:nvSpPr>
          <p:cNvPr id="3" name="object 3"/>
          <p:cNvSpPr txBox="1"/>
          <p:nvPr/>
        </p:nvSpPr>
        <p:spPr>
          <a:xfrm>
            <a:off x="8692133" y="110489"/>
            <a:ext cx="214629" cy="238125"/>
          </a:xfrm>
          <a:prstGeom prst="rect">
            <a:avLst/>
          </a:prstGeom>
        </p:spPr>
        <p:txBody>
          <a:bodyPr vert="horz" wrap="square" lIns="0" tIns="11430" rIns="0" bIns="0" rtlCol="0">
            <a:spAutoFit/>
          </a:bodyPr>
          <a:lstStyle/>
          <a:p>
            <a:pPr marL="12700">
              <a:lnSpc>
                <a:spcPct val="100000"/>
              </a:lnSpc>
              <a:spcBef>
                <a:spcPts val="90"/>
              </a:spcBef>
            </a:pPr>
            <a:r>
              <a:rPr sz="1400" spc="-25" dirty="0">
                <a:latin typeface="Arial MT"/>
                <a:cs typeface="Arial MT"/>
              </a:rPr>
              <a:t>10</a:t>
            </a:r>
            <a:endParaRPr sz="14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TotalTime>
  <Words>696</Words>
  <Application>Microsoft Office PowerPoint</Application>
  <PresentationFormat>Custom</PresentationFormat>
  <Paragraphs>95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 MT</vt:lpstr>
      <vt:lpstr>Calibri</vt:lpstr>
      <vt:lpstr>Courier New</vt:lpstr>
      <vt:lpstr>Times New Roman</vt:lpstr>
      <vt:lpstr>Wingdings</vt:lpstr>
      <vt:lpstr>Office Theme</vt:lpstr>
      <vt:lpstr>Automated Resume Screening Using NLP and Bias Analysis (AIT-CSE-Big Data Analytics)</vt:lpstr>
      <vt:lpstr>INTRODUCTION</vt:lpstr>
      <vt:lpstr>SOFTWARE/HARDWARE REQUIREMENT</vt:lpstr>
      <vt:lpstr>PROBLEM STATEMENTS</vt:lpstr>
      <vt:lpstr>PRELIMINARY DESIGN</vt:lpstr>
      <vt:lpstr>PROJECT IMPLEMENTATION AND REAL TIME EXAMPLE</vt:lpstr>
      <vt:lpstr>REAL TIME EXAMPLE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Bedant Singhania</dc:creator>
  <cp:lastModifiedBy>Bedant Singhania</cp:lastModifiedBy>
  <cp:revision>2</cp:revision>
  <dcterms:created xsi:type="dcterms:W3CDTF">2026-01-30T01:44:20Z</dcterms:created>
  <dcterms:modified xsi:type="dcterms:W3CDTF">2026-01-30T02:06:09Z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2025-10-29T00:00:00Z</vt:filetime>
  </property>
  <property fmtid="{D5CDD505-2E9C-101B-9397-08002B2CF9AE}" pid="3" name="Creator">
    <vt:lpwstr>Microsoft® PowerPoint® 2016</vt:lpwstr>
  </property>
  <property fmtid="{D5CDD505-2E9C-101B-9397-08002B2CF9AE}" pid="4" name="LastSaved">
    <vt:filetime>2026-01-30T00:00:00Z</vt:filetime>
  </property>
  <property fmtid="{D5CDD505-2E9C-101B-9397-08002B2CF9AE}" pid="5" name="Producer">
    <vt:lpwstr>www.ilovepdf.com</vt:lpwstr>
  </property>
</Properties>
</file>